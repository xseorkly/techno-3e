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a4556dd-0830-5f5c-11dd-d3476b5d71e1}">
          <p14:sldIdLst>
            <p14:sldId id="256"/>
            <p14:sldId id="257"/>
            <p14:sldId id="258"/>
          </p14:sldIdLst>
        </p14:section>
        <p14:section name="Le cadre" id="{0174c573-3d6f-4d69-e7a1-3ed322e84191}">
          <p14:sldIdLst>
            <p14:sldId id="259"/>
            <p14:sldId id="260"/>
            <p14:sldId id="261"/>
            <p14:sldId id="262"/>
            <p14:sldId id="263"/>
          </p14:sldIdLst>
        </p14:section>
        <p14:section name="Le programme" id="{58b255a2-19a9-2448-7f5c-46dc38ed6dc5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e qui change" id="{b62286c8-63c7-d77b-e4fa-5d0c4c2d8fc9}">
          <p14:sldIdLst>
            <p14:sldId id="271"/>
            <p14:sldId id="272"/>
            <p14:sldId id="273"/>
            <p14:sldId id="274"/>
            <p14:sldId id="275"/>
          </p14:sldIdLst>
        </p14:section>
        <p14:section name="Enseigner" id="{4d2bc5e2-2b23-b099-8a9a-e06685b58afc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DNB 2027" id="{3f183e73-efe7-f35c-ecf8-6526b34fccaf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Ressources et formation" id="{0bd77d0c-bfe4-65ea-32f5-fc83b264f44a}">
          <p14:sldIdLst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Accueil. Cette année, le programme de 2024 s’applique pour la première fois en 3e : les trois niveaux du cycle 4 sont désormais concernés, et le DNB 2027 portera sur le programme de 3e.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questions sont celles relevées lors de la précédente session. Annoncer que la présentation y répond dans l’ordre du programme, et que les ateliers permettent ensuite de les travailler concrètement.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plan. Insister sur la partie 5 : la session 2027 du DNB est la première à porter sur le programme de 3e de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arrêté du 9 février 2024, article 2 (calendrier). La progressivité 5e / 4e / 3e est décrite par le programme lui-même. L’horaire contraint impose de choisir des activités qui servent les apprentissages essentiels.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quatre finalités reprennent le préambule du programme. La citation « sans rejet ni fascination » est issue du texte officiel : elle résume la posture critique attendue.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entrées ne sont pas des étapes : une même séquence les combine. Le bandeau reprend la carte conceptuelle de l’ancienne présentation « Comprendre un OST, c’est savoir que…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Formule du préambule. Le piège : n’en garder qu’une moitié. Faire sans structurer produit de l’activité sans apprentissage ; expliquer sans faire produit du savoir inerte. Les démarches citées sont celles du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Intitulés exacts du programme (BO n° 9 du 29 février 2024). Les sigles sont une commodité de lecture, pas une notation officielle.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programme de 2020 comptait une trentaine de compétences ; celui de 2024 en retient neuf, trois par thème. Les sigles OST : objets et systèmes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tiré de l’ancienne présentation, à propos de la chaîne d’énergie. Lire les verbes : associer, identifier → repérer → élaborer. C’est la part que l’enseignant fournit qui diminue : en 5e l’organisation est donnée, en 3e l’élève la construit.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Connaissances associées au thème 1, d’après le programme. Nouveautés marquantes : l’IA (avec ses biais), les systèmes d’information et l’indice de réparabilité comme critère de choix.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thème 2 concentre les notions nouvelles et exigeantes : données (binaire, types), réseaux (routeurs, IP, routage) et réparation. Ce sont aussi les thèmes de nos ateliers didactiques.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3e, le projet de groupe est souvent orienté développement durable. La compétence « valider par des tests » est nouvelle par son niveau d’exigence : c’est l’élève qui conçoit le protocole.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L’ancienne présentation comptait 32 compétences en 2020 contre 9 en 2024. Les compétences de 2024 regroupent et élèvent le niveau taxonomique de plusieurs anciennes compétences.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repris et complété de l’ancienne présentation. Le point clé : les verbes montent d’un cran (comparer → décrire les liens ; simuler → valider).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progression de la réparation est explicitement décrite par le programme. Le CRCN (cadre de référence des compétences numériques) n’est pas un enseignement à part : le programme indique les liens, à travailler en situation.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du formateur, appuyées sur le texte du programme. Pour SysML, le site de la formation propose un parcours complet (visseuse) avec huit diagrammes, chacun associé à une question ; en classe, deux ou trois suffisent.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Exemples issus des trois ateliers didactiques de la formation (Réseaux, Données &amp; décision, SysML).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L’échelle des aides vient du diaporama de clôture du parcours Réseaux. Réponse à la question sur l’enseignement explicite : c’est la structuration et la clarté des attendus, pas le cours magistral.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Repères développés dans la ressource « Sciences cognitives » du site de formation. Ce sont des repères d’analyse, à confronter à l’observation des élèves.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 reprise de l’ancienne présentation. Une séquence se juge à l’alignement entre le savoir visé, la tâche donnée et la preuve recueillie.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Critères repris de l’ancienne présentation. L’objet n’est qu’un support : l’enjeu est d’identifier les apprentissages qu’il permet réellement de travailler (atelier d’ouverture).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note de service du 11 septembre 2026, MENE2623228N, et page Éduscol « Les épreuves du DNB ». Ordre des écrits : français, mathématiques, histoire-géographie-EMC, sciences.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barème passe de 25 à 10 points par discipline, et la langue y est désormais explicitement notée. Pour les centres à l’étranger, vérifier les consignes de la zone. Détail sur le site de formation, page DNB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Principe commun à l’évaluation des épreuves écrites (note de service MENE2623195N). Les paliers sont communs, pondérés selon les épreuves, les exercices et les sujets. Les aménagements liés à l’orthographe ou à la syntaxe sont pris en compte.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Grille reproduite d’après le document officiel des paliers descriptifs (note de service MENE2623195N). À utiliser telle quelle en classe pour habituer les élèves aux attentes.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sujet de référence explicite le niveau attendu ; ce n’est pas un sujet officiel de session. Durée indiquée : 30 minutes. Quatre questions de natures différentes, chacune adossée à un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conséquences sont tirées du sujet de référence et des notes de service. Elles concernent tout le cycle : l’écriture en technologie se travaille dès la 5e.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les références sont reprises, avec leurs liens, sur le site de la formation : xseorkly.github.io/techno-3e/formation.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portail en direct si possible : programme.teckno.fr. Il est conçu pour passer rapidement du programme à la séquence, aux ressources et à l’évaluation. La question de contrôle de la page « Préparer » : si je retire le support technique, puis-je encore dire ce que mes élèves doivent apprendre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relevés le 11 octobre 2026 : 254 ressources dans le corpus principal, plus 7 ajouts de veille. Par niveau : 52 en 5e, 49 en 4e, 33 en 3e, 120 pour tout le cycle. Principales sources : académies de Bordeaux et de Toulouse, puis une douzaine d’autres académies et les textes officiels.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Conclusion. Revenir aux questions de départ : lesquelles ont trouvé une réponse ? Lesquelles seront travaillées dans les ateliers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rgbClr val="0A5A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BFE3E0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E6E6B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C71"/>
                </a:solidFill>
              </a:rPr>
              <a:t>NOUVEAU PROGRAMME DE TECHNOLOGIE  ·  CYCLE 4  ·  2026-2027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6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rgbClr val="BFE3E0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programme.teckno.f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programme.teckno.fr" TargetMode="External"/><Relationship Id="rId2" Type="http://schemas.openxmlformats.org/officeDocument/2006/relationships/hyperlink" Target="https://programme.teckno.fr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xseorkly.github.io/programme2/ressources.html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E3E0"/>
                </a:solidFill>
              </a:rPr>
              <a:t>FORMATION DES ENSEIGNANTS DE TECHNOLOGIE · 2026-2027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nouveau programme de technologie au cycle 4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change, ce qu’il faut faire apprendre, comment l’évaluer — et ce que cela change pour le DNB 2027</a:t>
            </a:r>
            <a:endParaRPr lang="en-US" sz="1700" dirty="0"/>
          </a:p>
        </p:txBody>
      </p:sp>
      <p:sp>
        <p:nvSpPr>
          <p:cNvPr id="5" name="Niveau 5e"/>
          <p:cNvSpPr/>
          <p:nvPr/>
        </p:nvSpPr>
        <p:spPr>
          <a:xfrm>
            <a:off x="548640" y="315468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2186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vigueur 2024-2025</a:t>
            </a:r>
            <a:endParaRPr lang="en-US" sz="1200" dirty="0"/>
          </a:p>
        </p:txBody>
      </p:sp>
      <p:sp>
        <p:nvSpPr>
          <p:cNvPr id="8" name="Niveau 4e"/>
          <p:cNvSpPr/>
          <p:nvPr/>
        </p:nvSpPr>
        <p:spPr>
          <a:xfrm>
            <a:off x="2514600" y="315468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32186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vigueur 2025-2026</a:t>
            </a:r>
            <a:endParaRPr lang="en-US" sz="1200" dirty="0"/>
          </a:p>
        </p:txBody>
      </p:sp>
      <p:sp>
        <p:nvSpPr>
          <p:cNvPr id="11" name="Niveau 3e"/>
          <p:cNvSpPr/>
          <p:nvPr/>
        </p:nvSpPr>
        <p:spPr>
          <a:xfrm>
            <a:off x="4480560" y="315468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32186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vigueur 2026-2027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Fehmi KLABI · Enseignant formateur Technologie et SNT · Réseau AEFE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CE QUE VOUS NOUS AVEZ DIT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questions qui reviennent le plus</a:t>
            </a:r>
            <a:endParaRPr lang="en-US" sz="2800" dirty="0"/>
          </a:p>
        </p:txBody>
      </p:sp>
      <p:sp>
        <p:nvSpPr>
          <p:cNvPr id="4" name="Carte Réparabilité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Réparabilité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20240"/>
            <a:ext cx="15910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objets étudier ? Quels attendus précis ?</a:t>
            </a:r>
            <a:endParaRPr lang="en-US" sz="1250" dirty="0"/>
          </a:p>
        </p:txBody>
      </p:sp>
      <p:sp>
        <p:nvSpPr>
          <p:cNvPr id="8" name="Carte Données"/>
          <p:cNvSpPr/>
          <p:nvPr/>
        </p:nvSpPr>
        <p:spPr>
          <a:xfrm>
            <a:off x="256032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272491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15544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1920240"/>
            <a:ext cx="15910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Booléens, ASCII étendu, binaire : jusqu’où aller ?</a:t>
            </a:r>
            <a:endParaRPr lang="en-US" sz="1250" dirty="0"/>
          </a:p>
        </p:txBody>
      </p:sp>
      <p:sp>
        <p:nvSpPr>
          <p:cNvPr id="12" name="Carte Représentation"/>
          <p:cNvSpPr/>
          <p:nvPr/>
        </p:nvSpPr>
        <p:spPr>
          <a:xfrm>
            <a:off x="466344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1554480"/>
            <a:ext cx="159105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092452"/>
            <a:ext cx="159105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APTE ou SysML ? Quels diagrammes au collège ?</a:t>
            </a:r>
            <a:endParaRPr lang="en-US" sz="1250" dirty="0"/>
          </a:p>
        </p:txBody>
      </p:sp>
      <p:sp>
        <p:nvSpPr>
          <p:cNvPr id="16" name="Carte CRCN"/>
          <p:cNvSpPr/>
          <p:nvPr/>
        </p:nvSpPr>
        <p:spPr>
          <a:xfrm>
            <a:off x="676656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6931152" y="143560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1152" y="15544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1920240"/>
            <a:ext cx="15910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l’aborder avec les élèves ?</a:t>
            </a:r>
            <a:endParaRPr lang="en-US" sz="1250" dirty="0"/>
          </a:p>
        </p:txBody>
      </p:sp>
      <p:sp>
        <p:nvSpPr>
          <p:cNvPr id="20" name="Carte 2020 → 2024"/>
          <p:cNvSpPr/>
          <p:nvPr/>
        </p:nvSpPr>
        <p:spPr>
          <a:xfrm>
            <a:off x="45720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Repère 4"/>
          <p:cNvSpPr/>
          <p:nvPr/>
        </p:nvSpPr>
        <p:spPr>
          <a:xfrm>
            <a:off x="621792" y="312724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2461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→ 2024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611880"/>
            <a:ext cx="15910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Qu’est-ce qui change vraiment ?</a:t>
            </a:r>
            <a:endParaRPr lang="en-US" sz="1250" dirty="0"/>
          </a:p>
        </p:txBody>
      </p:sp>
      <p:sp>
        <p:nvSpPr>
          <p:cNvPr id="24" name="Carte Démarches"/>
          <p:cNvSpPr/>
          <p:nvPr/>
        </p:nvSpPr>
        <p:spPr>
          <a:xfrm>
            <a:off x="256032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5" name="Repère 5"/>
          <p:cNvSpPr/>
          <p:nvPr/>
        </p:nvSpPr>
        <p:spPr>
          <a:xfrm>
            <a:off x="2724912" y="312724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24912" y="32461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Démarches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724912" y="3611880"/>
            <a:ext cx="15910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Investigation, îlots, enseignement explicite : quelle place ?</a:t>
            </a:r>
            <a:endParaRPr lang="en-US" sz="1250" dirty="0"/>
          </a:p>
        </p:txBody>
      </p:sp>
      <p:sp>
        <p:nvSpPr>
          <p:cNvPr id="28" name="Carte Besoins particuliers"/>
          <p:cNvSpPr/>
          <p:nvPr/>
        </p:nvSpPr>
        <p:spPr>
          <a:xfrm>
            <a:off x="466344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9" name="Repère 6"/>
          <p:cNvSpPr/>
          <p:nvPr/>
        </p:nvSpPr>
        <p:spPr>
          <a:xfrm>
            <a:off x="4828032" y="312724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28032" y="3246120"/>
            <a:ext cx="159105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Besoins particuliers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828032" y="3784092"/>
            <a:ext cx="159105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place pour ces élèves ?</a:t>
            </a:r>
            <a:endParaRPr lang="en-US" sz="1250" dirty="0"/>
          </a:p>
        </p:txBody>
      </p:sp>
      <p:sp>
        <p:nvSpPr>
          <p:cNvPr id="32" name="Carte Attendus et repères"/>
          <p:cNvSpPr/>
          <p:nvPr/>
        </p:nvSpPr>
        <p:spPr>
          <a:xfrm>
            <a:off x="676656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33" name="Repère 7"/>
          <p:cNvSpPr/>
          <p:nvPr/>
        </p:nvSpPr>
        <p:spPr>
          <a:xfrm>
            <a:off x="6931152" y="312724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31152" y="3246120"/>
            <a:ext cx="159105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Attendus et repères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3784092"/>
            <a:ext cx="159105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Attendus ou repères : quelle différence ?</a:t>
            </a:r>
            <a:endParaRPr lang="en-US" sz="1250" dirty="0"/>
          </a:p>
        </p:txBody>
      </p:sp>
      <p:sp>
        <p:nvSpPr>
          <p:cNvPr id="36" name="Bandeau"/>
          <p:cNvSpPr/>
          <p:nvPr/>
        </p:nvSpPr>
        <p:spPr>
          <a:xfrm>
            <a:off x="457200" y="4343400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343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question trouve sa réponse dans cette présentation, puis dans les ateliers de la formation.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 FIL DE LA PRÉSENTATION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temps</a:t>
            </a:r>
            <a:endParaRPr lang="en-US" sz="2800" dirty="0"/>
          </a:p>
        </p:txBody>
      </p:sp>
      <p:sp>
        <p:nvSpPr>
          <p:cNvPr id="4" name="Carte Le cadre"/>
          <p:cNvSpPr/>
          <p:nvPr/>
        </p:nvSpPr>
        <p:spPr>
          <a:xfrm>
            <a:off x="457200" y="1280160"/>
            <a:ext cx="2621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01368"/>
            <a:ext cx="2292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cadre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85416"/>
            <a:ext cx="2292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Calendrier, finalités, philosophie du programme.</a:t>
            </a:r>
            <a:endParaRPr lang="en-US" sz="1300" dirty="0"/>
          </a:p>
        </p:txBody>
      </p:sp>
      <p:sp>
        <p:nvSpPr>
          <p:cNvPr id="9" name="Carte Le programme"/>
          <p:cNvSpPr/>
          <p:nvPr/>
        </p:nvSpPr>
        <p:spPr>
          <a:xfrm>
            <a:off x="3261360" y="1280160"/>
            <a:ext cx="2621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595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425952" y="1801368"/>
            <a:ext cx="2292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programme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25952" y="2185416"/>
            <a:ext cx="2292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thèmes, neuf compétences, repères de progressivité.</a:t>
            </a:r>
            <a:endParaRPr lang="en-US" sz="1300" dirty="0"/>
          </a:p>
        </p:txBody>
      </p:sp>
      <p:sp>
        <p:nvSpPr>
          <p:cNvPr id="14" name="Carte Ce qui change"/>
          <p:cNvSpPr/>
          <p:nvPr/>
        </p:nvSpPr>
        <p:spPr>
          <a:xfrm>
            <a:off x="6065520" y="1280160"/>
            <a:ext cx="2621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5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011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30112" y="1801368"/>
            <a:ext cx="2292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change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0112" y="2185416"/>
            <a:ext cx="2292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2020 à 2024 : compétences, contenus, nouveautés.</a:t>
            </a:r>
            <a:endParaRPr lang="en-US" sz="1300" dirty="0"/>
          </a:p>
        </p:txBody>
      </p:sp>
      <p:sp>
        <p:nvSpPr>
          <p:cNvPr id="19" name="Carte Enseigner"/>
          <p:cNvSpPr/>
          <p:nvPr/>
        </p:nvSpPr>
        <p:spPr>
          <a:xfrm>
            <a:off x="457200" y="2971800"/>
            <a:ext cx="2621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0" name="Repère 3"/>
          <p:cNvSpPr/>
          <p:nvPr/>
        </p:nvSpPr>
        <p:spPr>
          <a:xfrm>
            <a:off x="621792" y="312724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24612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493008"/>
            <a:ext cx="2292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877056"/>
            <a:ext cx="2292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Didactique, pédagogie, sciences cognitives, choix des supports.</a:t>
            </a:r>
            <a:endParaRPr lang="en-US" sz="1300" dirty="0"/>
          </a:p>
        </p:txBody>
      </p:sp>
      <p:sp>
        <p:nvSpPr>
          <p:cNvPr id="24" name="Carte Évaluer : le DNB 2027"/>
          <p:cNvSpPr/>
          <p:nvPr/>
        </p:nvSpPr>
        <p:spPr>
          <a:xfrm>
            <a:off x="3261360" y="2971800"/>
            <a:ext cx="2621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5" name="Repère 4"/>
          <p:cNvSpPr/>
          <p:nvPr/>
        </p:nvSpPr>
        <p:spPr>
          <a:xfrm>
            <a:off x="3425952" y="312724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5952" y="324612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425952" y="3493008"/>
            <a:ext cx="2292096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: le DNB 2027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3425952" y="4092956"/>
            <a:ext cx="2292096" cy="31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Épreuve de sciences, maîtrise de la langue, sujet de référence.</a:t>
            </a:r>
            <a:endParaRPr lang="en-US" sz="1300" dirty="0"/>
          </a:p>
        </p:txBody>
      </p:sp>
      <p:sp>
        <p:nvSpPr>
          <p:cNvPr id="29" name="Carte Ressources et formation"/>
          <p:cNvSpPr/>
          <p:nvPr/>
        </p:nvSpPr>
        <p:spPr>
          <a:xfrm>
            <a:off x="6065520" y="2971800"/>
            <a:ext cx="2621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30" name="Repère 5"/>
          <p:cNvSpPr/>
          <p:nvPr/>
        </p:nvSpPr>
        <p:spPr>
          <a:xfrm>
            <a:off x="6230112" y="312724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30112" y="324612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230112" y="3493008"/>
            <a:ext cx="2292096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et formation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230112" y="4092956"/>
            <a:ext cx="2292096" cy="31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Éduscol, banques de séquences, ateliers.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E3E0"/>
                </a:solidFill>
              </a:rPr>
              <a:t>PARTIE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cadre : un nouveau programme, une histoire, des objectifs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Arrêté du 9 février 2024 · BO n° 9 du 29 février 2024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CALENDRIER ET CONTRAINTES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programme progressif, un horaire contraint</a:t>
            </a:r>
            <a:endParaRPr lang="en-US" sz="2800" dirty="0"/>
          </a:p>
        </p:txBody>
      </p:sp>
      <p:sp>
        <p:nvSpPr>
          <p:cNvPr id="4" name="Calendrier 5e"/>
          <p:cNvSpPr/>
          <p:nvPr/>
        </p:nvSpPr>
        <p:spPr>
          <a:xfrm>
            <a:off x="457200" y="128016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Pastille 5e"/>
          <p:cNvSpPr/>
          <p:nvPr/>
        </p:nvSpPr>
        <p:spPr>
          <a:xfrm>
            <a:off x="640080" y="1444752"/>
            <a:ext cx="566928" cy="566928"/>
          </a:xfrm>
          <a:prstGeom prst="ellipse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Rentrée 2024-2025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les usages : mise en service, manipulation, paramétrage, tests, mini-projets.</a:t>
            </a:r>
            <a:endParaRPr lang="en-US" sz="1300" dirty="0"/>
          </a:p>
        </p:txBody>
      </p:sp>
      <p:sp>
        <p:nvSpPr>
          <p:cNvPr id="9" name="Calendrier 4e"/>
          <p:cNvSpPr/>
          <p:nvPr/>
        </p:nvSpPr>
        <p:spPr>
          <a:xfrm>
            <a:off x="3246120" y="128016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Pastille 4e"/>
          <p:cNvSpPr/>
          <p:nvPr/>
        </p:nvSpPr>
        <p:spPr>
          <a:xfrm>
            <a:off x="3429000" y="1444752"/>
            <a:ext cx="566928" cy="566928"/>
          </a:xfrm>
          <a:prstGeom prst="ellipse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Rentrée 2025-2026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Approfondir : conditions et contraintes, nouvelles fonctionnalités, réseaux locaux, protocoles de réparation.</a:t>
            </a:r>
            <a:endParaRPr lang="en-US" sz="1300" dirty="0"/>
          </a:p>
        </p:txBody>
      </p:sp>
      <p:sp>
        <p:nvSpPr>
          <p:cNvPr id="14" name="Calendrier 3e"/>
          <p:cNvSpPr/>
          <p:nvPr/>
        </p:nvSpPr>
        <p:spPr>
          <a:xfrm>
            <a:off x="6035040" y="128016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5" name="Pastille 3e"/>
          <p:cNvSpPr/>
          <p:nvPr/>
        </p:nvSpPr>
        <p:spPr>
          <a:xfrm>
            <a:off x="6217920" y="1444752"/>
            <a:ext cx="566928" cy="566928"/>
          </a:xfrm>
          <a:prstGeom prst="ellipse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6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Rentrée 2026-2027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48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relation sciences et innovations : chaînes d’information et d’énergie, numérisation, projet de groupe.</a:t>
            </a:r>
            <a:endParaRPr lang="en-US" sz="1300" dirty="0"/>
          </a:p>
        </p:txBody>
      </p:sp>
      <p:sp>
        <p:nvSpPr>
          <p:cNvPr id="19" name="Carte Environ 1 h 30 par semaine"/>
          <p:cNvSpPr/>
          <p:nvPr/>
        </p:nvSpPr>
        <p:spPr>
          <a:xfrm>
            <a:off x="457200" y="3493008"/>
            <a:ext cx="262128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0" name="Repère 0"/>
          <p:cNvSpPr/>
          <p:nvPr/>
        </p:nvSpPr>
        <p:spPr>
          <a:xfrm>
            <a:off x="621792" y="3648456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767328"/>
            <a:ext cx="2292096" cy="4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 1 h 30 par semaine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274312"/>
            <a:ext cx="2292096" cy="361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une cinquantaine d’heures par an (32 semaines utiles).</a:t>
            </a:r>
            <a:endParaRPr lang="en-US" sz="1200" dirty="0"/>
          </a:p>
        </p:txBody>
      </p:sp>
      <p:sp>
        <p:nvSpPr>
          <p:cNvPr id="23" name="Carte Peu de groupes réduits"/>
          <p:cNvSpPr/>
          <p:nvPr/>
        </p:nvSpPr>
        <p:spPr>
          <a:xfrm>
            <a:off x="3261360" y="3493008"/>
            <a:ext cx="262128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4" name="Repère 1"/>
          <p:cNvSpPr/>
          <p:nvPr/>
        </p:nvSpPr>
        <p:spPr>
          <a:xfrm>
            <a:off x="3425952" y="3648456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5952" y="3767328"/>
            <a:ext cx="2292096" cy="4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 de groupes réduits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25952" y="4274312"/>
            <a:ext cx="2292096" cy="361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manipulations doivent tenir en classe entière.</a:t>
            </a:r>
            <a:endParaRPr lang="en-US" sz="1200" dirty="0"/>
          </a:p>
        </p:txBody>
      </p:sp>
      <p:sp>
        <p:nvSpPr>
          <p:cNvPr id="27" name="Carte Rupture cycle 3 → cycle 4"/>
          <p:cNvSpPr/>
          <p:nvPr/>
        </p:nvSpPr>
        <p:spPr>
          <a:xfrm>
            <a:off x="6065520" y="3493008"/>
            <a:ext cx="262128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8" name="Repère 2"/>
          <p:cNvSpPr/>
          <p:nvPr/>
        </p:nvSpPr>
        <p:spPr>
          <a:xfrm>
            <a:off x="6230112" y="3648456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0112" y="3767328"/>
            <a:ext cx="2292096" cy="4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Rupture cycle 3 → cycle 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30112" y="4274312"/>
            <a:ext cx="2292096" cy="361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acquis de 6e sont inégaux : à diagnostiquer.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LES FINALITÉS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la technologie, dans quel but ?</a:t>
            </a:r>
            <a:endParaRPr lang="en-US" sz="2800" dirty="0"/>
          </a:p>
        </p:txBody>
      </p:sp>
      <p:sp>
        <p:nvSpPr>
          <p:cNvPr id="4" name="Carte Éclairer l’orientation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Éclairer l’orientation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38528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les filières et métiers scientifiques, technologiques, industriels, artisanaux et de services techniques.</a:t>
            </a:r>
            <a:endParaRPr lang="en-US" sz="1350" dirty="0"/>
          </a:p>
        </p:txBody>
      </p:sp>
      <p:sp>
        <p:nvSpPr>
          <p:cNvPr id="8" name="Carte Construire la pensée informatique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554480"/>
            <a:ext cx="3694176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la pensée informatique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154428"/>
            <a:ext cx="369417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Comprendre, analyser et résoudre des problèmes avec les méthodes de l’informatique : données, algorithmes, langages, machines.</a:t>
            </a:r>
            <a:endParaRPr lang="en-US" sz="1350" dirty="0"/>
          </a:p>
        </p:txBody>
      </p:sp>
      <p:sp>
        <p:nvSpPr>
          <p:cNvPr id="12" name="Carte Développer la pensée critique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621792" y="30358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154680"/>
            <a:ext cx="3694176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 la pensée critique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754628"/>
            <a:ext cx="369417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usage raisonné des objets et systèmes techniques, « sans rejet ni fascination ».</a:t>
            </a:r>
            <a:endParaRPr lang="en-US" sz="1350" dirty="0"/>
          </a:p>
        </p:txBody>
      </p:sp>
      <p:sp>
        <p:nvSpPr>
          <p:cNvPr id="16" name="Carte Acquérir des compétences manuelles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4828032" y="303580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8032" y="3154680"/>
            <a:ext cx="3694176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Acquérir des compétences manuelles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3754628"/>
            <a:ext cx="369417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Fabriquer, savoir utiliser, réparer un objet : agir sur la technique, pas seulement en parler.</a:t>
            </a:r>
            <a:endParaRPr lang="en-US" sz="1350" dirty="0"/>
          </a:p>
        </p:txBody>
      </p:sp>
      <p:sp>
        <p:nvSpPr>
          <p:cNvPr id="20" name="Bandeau"/>
          <p:cNvSpPr/>
          <p:nvPr/>
        </p:nvSpPr>
        <p:spPr>
          <a:xfrm>
            <a:off x="457200" y="4343400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343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toile de fond : les enjeux de société et la transition écologique.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ENSEIGNER LA TECHNOLOGIE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manières d’apprendre la technologie</a:t>
            </a:r>
            <a:endParaRPr lang="en-US" sz="2800" dirty="0"/>
          </a:p>
        </p:txBody>
      </p:sp>
      <p:sp>
        <p:nvSpPr>
          <p:cNvPr id="4" name="Carte Apprendre des technologies"/>
          <p:cNvSpPr/>
          <p:nvPr/>
        </p:nvSpPr>
        <p:spPr>
          <a:xfrm>
            <a:off x="457200" y="128016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01368"/>
            <a:ext cx="2292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des technologies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59736"/>
            <a:ext cx="2292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sont les objets et systèmes techniques, d’où ils viennent, à quels besoins ils répondent.</a:t>
            </a:r>
            <a:endParaRPr lang="en-US" sz="1400" dirty="0"/>
          </a:p>
        </p:txBody>
      </p:sp>
      <p:sp>
        <p:nvSpPr>
          <p:cNvPr id="9" name="Carte Apprendre sur les technologies"/>
          <p:cNvSpPr/>
          <p:nvPr/>
        </p:nvSpPr>
        <p:spPr>
          <a:xfrm>
            <a:off x="3261360" y="128016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595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425952" y="1801368"/>
            <a:ext cx="2292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sur les technologies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25952" y="2459736"/>
            <a:ext cx="2292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ils fonctionnent, et quels effets ils ont : sociaux, économiques, environnementaux.</a:t>
            </a:r>
            <a:endParaRPr lang="en-US" sz="1400" dirty="0"/>
          </a:p>
        </p:txBody>
      </p:sp>
      <p:sp>
        <p:nvSpPr>
          <p:cNvPr id="14" name="Carte Faire de la technologie"/>
          <p:cNvSpPr/>
          <p:nvPr/>
        </p:nvSpPr>
        <p:spPr>
          <a:xfrm>
            <a:off x="6065520" y="128016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5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011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30112" y="1801368"/>
            <a:ext cx="2292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la technologie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0112" y="2459736"/>
            <a:ext cx="2292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Concevoir, créer, réaliser, programmer, réparer : mettre en œuvre dans des projets concrets.</a:t>
            </a:r>
            <a:endParaRPr lang="en-US" sz="1400" dirty="0"/>
          </a:p>
        </p:txBody>
      </p:sp>
      <p:sp>
        <p:nvSpPr>
          <p:cNvPr id="19" name="Bandeau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611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un objet technique : son besoin, sa fonction, son principe, son architecture (chaînes d’énergie et d’information), ses performances et ses impacts.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LA PHILOSOPHIE GÉNÉRALE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Faire pour apprendre et apprendre à faire »</a:t>
            </a:r>
            <a:endParaRPr lang="en-US" sz="2800" dirty="0"/>
          </a:p>
        </p:txBody>
      </p:sp>
      <p:sp>
        <p:nvSpPr>
          <p:cNvPr id="4" name="Carte L’action comme moyen d’apprendre"/>
          <p:cNvSpPr/>
          <p:nvPr/>
        </p:nvSpPr>
        <p:spPr>
          <a:xfrm>
            <a:off x="457200" y="12801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POUR APPRENDRE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01368"/>
            <a:ext cx="3694176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L’action comme moyen d’apprendre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01316"/>
            <a:ext cx="3694176" cy="497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en expérimentant, en testant, en se trompant que l’élève construit et consolide ses connaissances. Un cycle : agir, observer, ajuster.</a:t>
            </a:r>
            <a:endParaRPr lang="en-US" sz="1400" dirty="0"/>
          </a:p>
        </p:txBody>
      </p:sp>
      <p:sp>
        <p:nvSpPr>
          <p:cNvPr id="9" name="Carte Comprendre pour bien agir"/>
          <p:cNvSpPr/>
          <p:nvPr/>
        </p:nvSpPr>
        <p:spPr>
          <a:xfrm>
            <a:off x="4663440" y="12801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Repère 1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544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À FAIRE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80136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pour bien agir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2203704"/>
            <a:ext cx="3694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outils, les matériaux, les méthodes, le vocabulaire : des savoirs explicites, enseignés, qui rendent l’action possible et efficace.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démarches au service des deux</a:t>
            </a:r>
            <a:endParaRPr lang="en-US" sz="1500" dirty="0"/>
          </a:p>
        </p:txBody>
      </p:sp>
      <p:sp>
        <p:nvSpPr>
          <p:cNvPr id="15" name="Démarche 0"/>
          <p:cNvSpPr/>
          <p:nvPr/>
        </p:nvSpPr>
        <p:spPr>
          <a:xfrm>
            <a:off x="457200" y="356616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356616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300" dirty="0"/>
          </a:p>
        </p:txBody>
      </p:sp>
      <p:sp>
        <p:nvSpPr>
          <p:cNvPr id="17" name="Démarche 1"/>
          <p:cNvSpPr/>
          <p:nvPr/>
        </p:nvSpPr>
        <p:spPr>
          <a:xfrm>
            <a:off x="2139696" y="356616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12848" y="356616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technologique</a:t>
            </a:r>
            <a:endParaRPr lang="en-US" sz="1300" dirty="0"/>
          </a:p>
        </p:txBody>
      </p:sp>
      <p:sp>
        <p:nvSpPr>
          <p:cNvPr id="19" name="Démarche 2"/>
          <p:cNvSpPr/>
          <p:nvPr/>
        </p:nvSpPr>
        <p:spPr>
          <a:xfrm>
            <a:off x="3822192" y="356616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95344" y="356616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problèmes</a:t>
            </a:r>
            <a:endParaRPr lang="en-US" sz="1300" dirty="0"/>
          </a:p>
        </p:txBody>
      </p:sp>
      <p:sp>
        <p:nvSpPr>
          <p:cNvPr id="21" name="Démarche 3"/>
          <p:cNvSpPr/>
          <p:nvPr/>
        </p:nvSpPr>
        <p:spPr>
          <a:xfrm>
            <a:off x="5504688" y="356616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0" y="356616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 informatique</a:t>
            </a:r>
            <a:endParaRPr lang="en-US" sz="1300" dirty="0"/>
          </a:p>
        </p:txBody>
      </p:sp>
      <p:sp>
        <p:nvSpPr>
          <p:cNvPr id="23" name="Démarche 4"/>
          <p:cNvSpPr/>
          <p:nvPr/>
        </p:nvSpPr>
        <p:spPr>
          <a:xfrm>
            <a:off x="7187184" y="356616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0336" y="356616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de projet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E3E0"/>
                </a:solidFill>
              </a:rPr>
              <a:t>PARTIE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programme : trois thèmes, neuf compétences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organisation spiralaire : les mêmes thèmes reviennent chaque année, avec une exigence croissante.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L’ARCHITECTURE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thèmes, trois questions</a:t>
            </a:r>
            <a:endParaRPr lang="en-US" sz="2800" dirty="0"/>
          </a:p>
        </p:txBody>
      </p:sp>
      <p:sp>
        <p:nvSpPr>
          <p:cNvPr id="4" name="Carte Les objets et les systèmes techniques"/>
          <p:cNvSpPr/>
          <p:nvPr/>
        </p:nvSpPr>
        <p:spPr>
          <a:xfrm>
            <a:off x="457200" y="128016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1 · OST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01368"/>
            <a:ext cx="2292096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objets et les systèmes techniques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618232"/>
            <a:ext cx="2292096" cy="133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Leurs usages et leurs interactions, à découvrir et à analyser.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sert-il, pour qui, avec quels effets ?</a:t>
            </a:r>
            <a:endParaRPr lang="en-US" sz="1350" dirty="0"/>
          </a:p>
        </p:txBody>
      </p:sp>
      <p:sp>
        <p:nvSpPr>
          <p:cNvPr id="9" name="Carte Structure, fonctionnement, comportement"/>
          <p:cNvSpPr/>
          <p:nvPr/>
        </p:nvSpPr>
        <p:spPr>
          <a:xfrm>
            <a:off x="3261360" y="128016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595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2 · SFC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425952" y="1801368"/>
            <a:ext cx="2292096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fonctionnement, comportement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5952" y="2618232"/>
            <a:ext cx="2292096" cy="133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objets et des systèmes techniques à comprendre.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est-il fait, comment fonctionne-t-il ?</a:t>
            </a:r>
            <a:endParaRPr lang="en-US" sz="1350" dirty="0"/>
          </a:p>
        </p:txBody>
      </p:sp>
      <p:sp>
        <p:nvSpPr>
          <p:cNvPr id="14" name="Carte Création, conception, réalisation, innovations"/>
          <p:cNvSpPr/>
          <p:nvPr/>
        </p:nvSpPr>
        <p:spPr>
          <a:xfrm>
            <a:off x="6065520" y="128016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5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011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CCRI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30112" y="1801368"/>
            <a:ext cx="2292096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Création, conception, réalisation, innovations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30112" y="2618232"/>
            <a:ext cx="2292096" cy="133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objets à concevoir et à réaliser.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imaginer, réaliser et valider une solution ?</a:t>
            </a:r>
            <a:endParaRPr lang="en-US" sz="1350" dirty="0"/>
          </a:p>
        </p:txBody>
      </p:sp>
      <p:sp>
        <p:nvSpPr>
          <p:cNvPr id="19" name="Bandeau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sigles OST, SFC et CCRI sont ceux utilisés dans la banque de séquences de l’académie de Bordeaux et dans nos ateliers.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LES NEUF COMPÉTENCES DE FIN DE CYCLE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l’élève doit savoir faire à la fin de la 3e</a:t>
            </a:r>
            <a:endParaRPr lang="en-US" sz="2800" dirty="0"/>
          </a:p>
        </p:txBody>
      </p:sp>
      <p:sp>
        <p:nvSpPr>
          <p:cNvPr id="4" name="Compétences OST"/>
          <p:cNvSpPr/>
          <p:nvPr/>
        </p:nvSpPr>
        <p:spPr>
          <a:xfrm>
            <a:off x="457200" y="123444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Entête OST"/>
          <p:cNvSpPr/>
          <p:nvPr/>
        </p:nvSpPr>
        <p:spPr>
          <a:xfrm>
            <a:off x="457200" y="1234440"/>
            <a:ext cx="2606040" cy="384048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34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1 · OST</a:t>
            </a:r>
            <a:endParaRPr lang="en-US" sz="1300" dirty="0"/>
          </a:p>
        </p:txBody>
      </p:sp>
      <p:sp>
        <p:nvSpPr>
          <p:cNvPr id="7" name="Compétence 1"/>
          <p:cNvSpPr/>
          <p:nvPr/>
        </p:nvSpPr>
        <p:spPr>
          <a:xfrm>
            <a:off x="621792" y="1783080"/>
            <a:ext cx="329184" cy="329184"/>
          </a:xfrm>
          <a:prstGeom prst="ellipse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737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les liens entre usages et évolutions technologiques des OST</a:t>
            </a:r>
            <a:endParaRPr lang="en-US" sz="1200" dirty="0"/>
          </a:p>
        </p:txBody>
      </p:sp>
      <p:sp>
        <p:nvSpPr>
          <p:cNvPr id="10" name="Compétence 2"/>
          <p:cNvSpPr/>
          <p:nvPr/>
        </p:nvSpPr>
        <p:spPr>
          <a:xfrm>
            <a:off x="621792" y="2715768"/>
            <a:ext cx="329184" cy="329184"/>
          </a:xfrm>
          <a:prstGeom prst="ellipse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700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les interactions entre un OST, son environnement et les utilisateurs</a:t>
            </a:r>
            <a:endParaRPr lang="en-US" sz="1200" dirty="0"/>
          </a:p>
        </p:txBody>
      </p:sp>
      <p:sp>
        <p:nvSpPr>
          <p:cNvPr id="13" name="Compétence 3"/>
          <p:cNvSpPr/>
          <p:nvPr/>
        </p:nvSpPr>
        <p:spPr>
          <a:xfrm>
            <a:off x="621792" y="3648456"/>
            <a:ext cx="329184" cy="329184"/>
          </a:xfrm>
          <a:prstGeom prst="ellipse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602736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Caractériser et choisir un OST selon différents critères</a:t>
            </a:r>
            <a:endParaRPr lang="en-US" sz="1200" dirty="0"/>
          </a:p>
        </p:txBody>
      </p:sp>
      <p:sp>
        <p:nvSpPr>
          <p:cNvPr id="16" name="Compétences SFC"/>
          <p:cNvSpPr/>
          <p:nvPr/>
        </p:nvSpPr>
        <p:spPr>
          <a:xfrm>
            <a:off x="3246120" y="123444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Entête SFC"/>
          <p:cNvSpPr/>
          <p:nvPr/>
        </p:nvSpPr>
        <p:spPr>
          <a:xfrm>
            <a:off x="3246120" y="1234440"/>
            <a:ext cx="2606040" cy="384048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10712" y="1234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2 · SFC</a:t>
            </a:r>
            <a:endParaRPr lang="en-US" sz="1300" dirty="0"/>
          </a:p>
        </p:txBody>
      </p:sp>
      <p:sp>
        <p:nvSpPr>
          <p:cNvPr id="19" name="Compétence 4"/>
          <p:cNvSpPr/>
          <p:nvPr/>
        </p:nvSpPr>
        <p:spPr>
          <a:xfrm>
            <a:off x="3410712" y="1783080"/>
            <a:ext cx="329184" cy="329184"/>
          </a:xfrm>
          <a:prstGeom prst="ellipse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1737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et caractériser l’organisation interne d’un OST et ses échanges avec son environnement (énergies, données)</a:t>
            </a:r>
            <a:endParaRPr lang="en-US" sz="1200" dirty="0"/>
          </a:p>
        </p:txBody>
      </p:sp>
      <p:sp>
        <p:nvSpPr>
          <p:cNvPr id="22" name="Compétence 5"/>
          <p:cNvSpPr/>
          <p:nvPr/>
        </p:nvSpPr>
        <p:spPr>
          <a:xfrm>
            <a:off x="3410712" y="2715768"/>
            <a:ext cx="329184" cy="329184"/>
          </a:xfrm>
          <a:prstGeom prst="ellipse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107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26700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 dysfonctionnement d’un objet technique et y remédier</a:t>
            </a:r>
            <a:endParaRPr lang="en-US" sz="1200" dirty="0"/>
          </a:p>
        </p:txBody>
      </p:sp>
      <p:sp>
        <p:nvSpPr>
          <p:cNvPr id="25" name="Compétence 6"/>
          <p:cNvSpPr/>
          <p:nvPr/>
        </p:nvSpPr>
        <p:spPr>
          <a:xfrm>
            <a:off x="3410712" y="3648456"/>
            <a:ext cx="329184" cy="329184"/>
          </a:xfrm>
          <a:prstGeom prst="ellipse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10712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3602736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et modifier un programme associé à une fonctionnalité d’un OST</a:t>
            </a:r>
            <a:endParaRPr lang="en-US" sz="1200" dirty="0"/>
          </a:p>
        </p:txBody>
      </p:sp>
      <p:sp>
        <p:nvSpPr>
          <p:cNvPr id="28" name="Compétences CCRI"/>
          <p:cNvSpPr/>
          <p:nvPr/>
        </p:nvSpPr>
        <p:spPr>
          <a:xfrm>
            <a:off x="6035040" y="123444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9" name="Entête CCRI"/>
          <p:cNvSpPr/>
          <p:nvPr/>
        </p:nvSpPr>
        <p:spPr>
          <a:xfrm>
            <a:off x="6035040" y="1234440"/>
            <a:ext cx="2606040" cy="384048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9632" y="1234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 · CCRI</a:t>
            </a:r>
            <a:endParaRPr lang="en-US" sz="1300" dirty="0"/>
          </a:p>
        </p:txBody>
      </p:sp>
      <p:sp>
        <p:nvSpPr>
          <p:cNvPr id="31" name="Compétence 7"/>
          <p:cNvSpPr/>
          <p:nvPr/>
        </p:nvSpPr>
        <p:spPr>
          <a:xfrm>
            <a:off x="6199632" y="1783080"/>
            <a:ext cx="329184" cy="329184"/>
          </a:xfrm>
          <a:prstGeom prst="ellipse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99632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1737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Imaginer, concevoir et réaliser une ou des solutions en réponse à un besoin</a:t>
            </a:r>
            <a:endParaRPr lang="en-US" sz="1200" dirty="0"/>
          </a:p>
        </p:txBody>
      </p:sp>
      <p:sp>
        <p:nvSpPr>
          <p:cNvPr id="34" name="Compétence 8"/>
          <p:cNvSpPr/>
          <p:nvPr/>
        </p:nvSpPr>
        <p:spPr>
          <a:xfrm>
            <a:off x="6199632" y="2715768"/>
            <a:ext cx="329184" cy="329184"/>
          </a:xfrm>
          <a:prstGeom prst="ellipse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9963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26700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solutions techniques par des simulations ou par des protocoles de tests</a:t>
            </a:r>
            <a:endParaRPr lang="en-US" sz="1200" dirty="0"/>
          </a:p>
        </p:txBody>
      </p:sp>
      <p:sp>
        <p:nvSpPr>
          <p:cNvPr id="37" name="Compétence 9"/>
          <p:cNvSpPr/>
          <p:nvPr/>
        </p:nvSpPr>
        <p:spPr>
          <a:xfrm>
            <a:off x="6199632" y="3648456"/>
            <a:ext cx="329184" cy="329184"/>
          </a:xfrm>
          <a:prstGeom prst="ellipse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99632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3602736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Concevoir, écrire, tester et mettre au point un programme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COMPÉTENCE, CONNAISSANCES, REPÈRES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confondre trois niveaux de lecture</a:t>
            </a:r>
            <a:endParaRPr lang="en-US" sz="2800" dirty="0"/>
          </a:p>
        </p:txBody>
      </p:sp>
      <p:sp>
        <p:nvSpPr>
          <p:cNvPr id="4" name="Carte Le cap de fin de cycle"/>
          <p:cNvSpPr/>
          <p:nvPr/>
        </p:nvSpPr>
        <p:spPr>
          <a:xfrm>
            <a:off x="457200" y="1280160"/>
            <a:ext cx="26212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COMPÉTENCE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01368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cap de fin de cycle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39340"/>
            <a:ext cx="2292096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l’élève sait faire en fin de 3e : « décrire l’organisation interne d’un OST ».</a:t>
            </a:r>
            <a:endParaRPr lang="en-US" sz="1250" dirty="0"/>
          </a:p>
        </p:txBody>
      </p:sp>
      <p:sp>
        <p:nvSpPr>
          <p:cNvPr id="9" name="Carte Ce qu’il faut savoir"/>
          <p:cNvSpPr/>
          <p:nvPr/>
        </p:nvSpPr>
        <p:spPr>
          <a:xfrm>
            <a:off x="3261360" y="1280160"/>
            <a:ext cx="26212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595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CONNAISSANCES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425952" y="1801368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qu’il faut savoir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5952" y="2339340"/>
            <a:ext cx="2292096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notions qui la rendent possible : énergies, conversions, transmissions…</a:t>
            </a:r>
            <a:endParaRPr lang="en-US" sz="1250" dirty="0"/>
          </a:p>
        </p:txBody>
      </p:sp>
      <p:sp>
        <p:nvSpPr>
          <p:cNvPr id="14" name="Carte Le chemin par année"/>
          <p:cNvSpPr/>
          <p:nvPr/>
        </p:nvSpPr>
        <p:spPr>
          <a:xfrm>
            <a:off x="6065520" y="1280160"/>
            <a:ext cx="26212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5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0112" y="1554480"/>
            <a:ext cx="2292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REPÈRES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30112" y="1801368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chemin par année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0112" y="2167128"/>
            <a:ext cx="2292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attendu en 5e, en 4e, en 3e : de plus en plus d’autonomie et de complexité.</a:t>
            </a:r>
            <a:endParaRPr lang="en-US" sz="1250" dirty="0"/>
          </a:p>
        </p:txBody>
      </p:sp>
      <p:sp>
        <p:nvSpPr>
          <p:cNvPr id="19" name="Repère 5e"/>
          <p:cNvSpPr/>
          <p:nvPr/>
        </p:nvSpPr>
        <p:spPr>
          <a:xfrm>
            <a:off x="457200" y="306324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632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06324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des solutions techniques à des fonctions ; identifier les constituants de la chaîne d’énergie (organisation fournie) ; indiquer la nature des énergies.</a:t>
            </a:r>
            <a:endParaRPr lang="en-US" sz="1250" dirty="0"/>
          </a:p>
        </p:txBody>
      </p:sp>
      <p:sp>
        <p:nvSpPr>
          <p:cNvPr id="22" name="Repère 4e"/>
          <p:cNvSpPr/>
          <p:nvPr/>
        </p:nvSpPr>
        <p:spPr>
          <a:xfrm>
            <a:off x="457200" y="361188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61188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61188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constituants de la chaîne d’énergie et les associer à leurs fonctions ; repérer les transformations et les flux d’énergie.</a:t>
            </a:r>
            <a:endParaRPr lang="en-US" sz="1250" dirty="0"/>
          </a:p>
        </p:txBody>
      </p:sp>
      <p:sp>
        <p:nvSpPr>
          <p:cNvPr id="25" name="Repère 3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FBE8F0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1605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16052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Élaborer, à l’aide d’un schéma bloc, la chaîne d’énergie d’un OST.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LES CONNAISSANCES · THÈME 1 · OST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Usages, interactions, choix</a:t>
            </a:r>
            <a:endParaRPr lang="en-US" sz="2800" dirty="0"/>
          </a:p>
        </p:txBody>
      </p:sp>
      <p:sp>
        <p:nvSpPr>
          <p:cNvPr id="4" name="Carte Évolution des objets"/>
          <p:cNvSpPr/>
          <p:nvPr/>
        </p:nvSpPr>
        <p:spPr>
          <a:xfrm>
            <a:off x="45720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des objets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92452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Besoins, fonctions et principes techniques, familles et lignées, contraintes sociétales.</a:t>
            </a:r>
            <a:endParaRPr lang="en-US" sz="1250" dirty="0"/>
          </a:p>
        </p:txBody>
      </p:sp>
      <p:sp>
        <p:nvSpPr>
          <p:cNvPr id="8" name="Carte Intelligence artificielle"/>
          <p:cNvSpPr/>
          <p:nvPr/>
        </p:nvSpPr>
        <p:spPr>
          <a:xfrm>
            <a:off x="326136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5952" y="1554480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5952" y="2092452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types d’apprentissage, usages possibles, biais et effets sociétaux.</a:t>
            </a:r>
            <a:endParaRPr lang="en-US" sz="1250" dirty="0"/>
          </a:p>
        </p:txBody>
      </p:sp>
      <p:sp>
        <p:nvSpPr>
          <p:cNvPr id="12" name="Carte Systèmes d’information"/>
          <p:cNvSpPr/>
          <p:nvPr/>
        </p:nvSpPr>
        <p:spPr>
          <a:xfrm>
            <a:off x="606552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0112" y="1554480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d’information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0112" y="2092452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Fichiers, extensions, bit et octet, ordres de grandeur, stockage et flux de données.</a:t>
            </a:r>
            <a:endParaRPr lang="en-US" sz="1250" dirty="0"/>
          </a:p>
        </p:txBody>
      </p:sp>
      <p:sp>
        <p:nvSpPr>
          <p:cNvPr id="16" name="Carte Citoyenneté numérique"/>
          <p:cNvSpPr/>
          <p:nvPr/>
        </p:nvSpPr>
        <p:spPr>
          <a:xfrm>
            <a:off x="45720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621792" y="3154680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73552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Citoyenneté numérique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811524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Cybersécurité, protection des données, traces numériques, propriété intellectuelle, cyberviolence.</a:t>
            </a:r>
            <a:endParaRPr lang="en-US" sz="1250" dirty="0"/>
          </a:p>
        </p:txBody>
      </p:sp>
      <p:sp>
        <p:nvSpPr>
          <p:cNvPr id="20" name="Carte Représenter"/>
          <p:cNvSpPr/>
          <p:nvPr/>
        </p:nvSpPr>
        <p:spPr>
          <a:xfrm>
            <a:off x="326136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Repère 4"/>
          <p:cNvSpPr/>
          <p:nvPr/>
        </p:nvSpPr>
        <p:spPr>
          <a:xfrm>
            <a:off x="3425952" y="3154680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5952" y="3273552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5952" y="3639312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Croquis, schéma, graphique, algorithme, modélisation : des modes de représentation variés.</a:t>
            </a:r>
            <a:endParaRPr lang="en-US" sz="1250" dirty="0"/>
          </a:p>
        </p:txBody>
      </p:sp>
      <p:sp>
        <p:nvSpPr>
          <p:cNvPr id="24" name="Carte Choisir durablement"/>
          <p:cNvSpPr/>
          <p:nvPr/>
        </p:nvSpPr>
        <p:spPr>
          <a:xfrm>
            <a:off x="606552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5" name="Repère 5"/>
          <p:cNvSpPr/>
          <p:nvPr/>
        </p:nvSpPr>
        <p:spPr>
          <a:xfrm>
            <a:off x="6230112" y="3154680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0112" y="3273552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durablement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30112" y="3639312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Matériaux, énergie, indice énergétique, indice de réparabilité, impacts environnementaux.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LES CONNAISSANCES · THÈME 2 · SFC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c’est fait, comment ça marche</a:t>
            </a:r>
            <a:endParaRPr lang="en-US" sz="2800" dirty="0"/>
          </a:p>
        </p:txBody>
      </p:sp>
      <p:sp>
        <p:nvSpPr>
          <p:cNvPr id="4" name="Carte Chaîne d’énergie"/>
          <p:cNvSpPr/>
          <p:nvPr/>
        </p:nvSpPr>
        <p:spPr>
          <a:xfrm>
            <a:off x="45720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d’énergie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20240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d’énergie, conversions (moteur, lampe, radiateur, génératrice, vérin), batterie, relais, transmissions.</a:t>
            </a:r>
            <a:endParaRPr lang="en-US" sz="1250" dirty="0"/>
          </a:p>
        </p:txBody>
      </p:sp>
      <p:sp>
        <p:nvSpPr>
          <p:cNvPr id="8" name="Carte Chaîne d’information"/>
          <p:cNvSpPr/>
          <p:nvPr/>
        </p:nvSpPr>
        <p:spPr>
          <a:xfrm>
            <a:off x="326136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5952" y="1554480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d’information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5952" y="2092452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Capteurs, microcontrôleur, interface homme-machine.</a:t>
            </a:r>
            <a:endParaRPr lang="en-US" sz="1250" dirty="0"/>
          </a:p>
        </p:txBody>
      </p:sp>
      <p:sp>
        <p:nvSpPr>
          <p:cNvPr id="12" name="Carte Données"/>
          <p:cNvSpPr/>
          <p:nvPr/>
        </p:nvSpPr>
        <p:spPr>
          <a:xfrm>
            <a:off x="606552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0112" y="1554480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0112" y="1920240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Objets, descripteurs, listes, types, représentation binaire, traitement dans un tableur.</a:t>
            </a:r>
            <a:endParaRPr lang="en-US" sz="1250" dirty="0"/>
          </a:p>
        </p:txBody>
      </p:sp>
      <p:sp>
        <p:nvSpPr>
          <p:cNvPr id="16" name="Carte Réseaux"/>
          <p:cNvSpPr/>
          <p:nvPr/>
        </p:nvSpPr>
        <p:spPr>
          <a:xfrm>
            <a:off x="45720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621792" y="3154680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73552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639312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local, Internet, terminaux, commutateurs, routeurs, adresse IP, tables de routage, débit.</a:t>
            </a:r>
            <a:endParaRPr lang="en-US" sz="1250" dirty="0"/>
          </a:p>
        </p:txBody>
      </p:sp>
      <p:sp>
        <p:nvSpPr>
          <p:cNvPr id="20" name="Carte Dépannage et réparation"/>
          <p:cNvSpPr/>
          <p:nvPr/>
        </p:nvSpPr>
        <p:spPr>
          <a:xfrm>
            <a:off x="326136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Repère 4"/>
          <p:cNvSpPr/>
          <p:nvPr/>
        </p:nvSpPr>
        <p:spPr>
          <a:xfrm>
            <a:off x="3425952" y="3154680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5952" y="3273552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Dépannage et réparation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5952" y="3811524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Fiabilité, durabilité, sécurité, procédés, composants ; cycle de vie.</a:t>
            </a:r>
            <a:endParaRPr lang="en-US" sz="1250" dirty="0"/>
          </a:p>
        </p:txBody>
      </p:sp>
      <p:sp>
        <p:nvSpPr>
          <p:cNvPr id="24" name="Carte Programmation"/>
          <p:cNvSpPr/>
          <p:nvPr/>
        </p:nvSpPr>
        <p:spPr>
          <a:xfrm>
            <a:off x="606552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5" name="Repère 5"/>
          <p:cNvSpPr/>
          <p:nvPr/>
        </p:nvSpPr>
        <p:spPr>
          <a:xfrm>
            <a:off x="6230112" y="3154680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0112" y="3273552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30112" y="3639312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affectation, opérateurs, conditions, boucles, listes, événements, programmation par blocs.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LES CONNAISSANCES · THÈME 3 · CCRI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Concevoir, réaliser, valider</a:t>
            </a:r>
            <a:endParaRPr lang="en-US" sz="2800" dirty="0"/>
          </a:p>
        </p:txBody>
      </p:sp>
      <p:sp>
        <p:nvSpPr>
          <p:cNvPr id="4" name="Carte Gestion de projet"/>
          <p:cNvSpPr/>
          <p:nvPr/>
        </p:nvSpPr>
        <p:spPr>
          <a:xfrm>
            <a:off x="45720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projet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20240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tâches, revues de projet, travail collaboratif.</a:t>
            </a:r>
            <a:endParaRPr lang="en-US" sz="1250" dirty="0"/>
          </a:p>
        </p:txBody>
      </p:sp>
      <p:sp>
        <p:nvSpPr>
          <p:cNvPr id="8" name="Carte Écoconception"/>
          <p:cNvSpPr/>
          <p:nvPr/>
        </p:nvSpPr>
        <p:spPr>
          <a:xfrm>
            <a:off x="326136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5952" y="1554480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Écoconception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5952" y="1920240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impacts environnementaux sur tout le cycle de vie.</a:t>
            </a:r>
            <a:endParaRPr lang="en-US" sz="1250" dirty="0"/>
          </a:p>
        </p:txBody>
      </p:sp>
      <p:sp>
        <p:nvSpPr>
          <p:cNvPr id="12" name="Carte Prototypage"/>
          <p:cNvSpPr/>
          <p:nvPr/>
        </p:nvSpPr>
        <p:spPr>
          <a:xfrm>
            <a:off x="606552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0112" y="1554480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0112" y="1920240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matériaux et des sources d’énergie, assemblage de constituants.</a:t>
            </a:r>
            <a:endParaRPr lang="en-US" sz="1250" dirty="0"/>
          </a:p>
        </p:txBody>
      </p:sp>
      <p:sp>
        <p:nvSpPr>
          <p:cNvPr id="16" name="Carte Modélisation et fabrication"/>
          <p:cNvSpPr/>
          <p:nvPr/>
        </p:nvSpPr>
        <p:spPr>
          <a:xfrm>
            <a:off x="45720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621792" y="3154680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73552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et fabrication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811524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3D, découpe laser, imprimante 3D.</a:t>
            </a:r>
            <a:endParaRPr lang="en-US" sz="1250" dirty="0"/>
          </a:p>
        </p:txBody>
      </p:sp>
      <p:sp>
        <p:nvSpPr>
          <p:cNvPr id="20" name="Carte Valider"/>
          <p:cNvSpPr/>
          <p:nvPr/>
        </p:nvSpPr>
        <p:spPr>
          <a:xfrm>
            <a:off x="326136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Repère 4"/>
          <p:cNvSpPr/>
          <p:nvPr/>
        </p:nvSpPr>
        <p:spPr>
          <a:xfrm>
            <a:off x="3425952" y="3154680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5952" y="3273552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5952" y="3639312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et protocoles de tests : performances, tenue mécanique.</a:t>
            </a:r>
            <a:endParaRPr lang="en-US" sz="1250" dirty="0"/>
          </a:p>
        </p:txBody>
      </p:sp>
      <p:sp>
        <p:nvSpPr>
          <p:cNvPr id="24" name="Carte Programmation structurée"/>
          <p:cNvSpPr/>
          <p:nvPr/>
        </p:nvSpPr>
        <p:spPr>
          <a:xfrm>
            <a:off x="606552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5" name="Repère 5"/>
          <p:cNvSpPr/>
          <p:nvPr/>
        </p:nvSpPr>
        <p:spPr>
          <a:xfrm>
            <a:off x="6230112" y="3154680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0112" y="3273552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Programmation structurée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30112" y="3811524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communicants, sous-programmes et fonctions.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E3E0"/>
                </a:solidFill>
              </a:rPr>
              <a:t>PARTIE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change entre 2020 et 2024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et nouveautés : moins de compétences, plus d’exigence.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UNE COMPARAISON RAPIDE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2020 à 2024 : resserrer pour approfondir</a:t>
            </a:r>
            <a:endParaRPr lang="en-US" sz="2800" dirty="0"/>
          </a:p>
        </p:txBody>
      </p:sp>
      <p:sp>
        <p:nvSpPr>
          <p:cNvPr id="4" name="Programme 2020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Programme 2024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A6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innovation et créativité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objets techniques, les services et les changements induits dans la société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modélisation et la simulation des objets et systèmes techniques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trentaine de compétences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92024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et systèmes techniques : usages et interactions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fonctionnement, comportement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conception, réalisation, innovations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compétences de fin de cycle</a:t>
            </a:r>
            <a:endParaRPr lang="en-US" sz="1350" dirty="0"/>
          </a:p>
        </p:txBody>
      </p:sp>
      <p:sp>
        <p:nvSpPr>
          <p:cNvPr id="10" name="Flèche"/>
          <p:cNvSpPr/>
          <p:nvPr/>
        </p:nvSpPr>
        <p:spPr>
          <a:xfrm>
            <a:off x="4407408" y="2560320"/>
            <a:ext cx="329184" cy="365760"/>
          </a:xfrm>
          <a:prstGeom prst="rightArrow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Bandeau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31579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434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compétences ne veut pas dire moins de contenu : chacune est plus intégratrice et plus exigeante.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DES COMPÉTENCES REFORMULÉES · UNE ÉVOLUTION TAXONOMIQUE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l’analyse à la compréhension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00400"/>
                <a:gridCol w="2011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18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Comparer et commenter les évolutions des objets et systèmes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Décrire les liens entre usages et évolutions technologiques des 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l’analyse à la compréhension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Utiliser une modélisation et simuler le comportement d’un objet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 les solutions techniques par des simulations ou des protocoles de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l’application à l’évaluation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Analyser le fonctionnement et la structure d’un objet ; comprendre le fonctionnement d’un réseau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Décrire et caractériser l’organisation interne d’un OST et ses échanges (énergies, données)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réseau devient un OST à part entière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Analyser le cycle de vie d’un objet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Caractériser et choisir un OST selon différents critères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Même niveau, mais orienté vers le choix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Écrire, mettre au point et exécuter un programme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Comprendre et modifier un programme… ; concevoir, écrire, tester et mettre au point un programme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Deux compétences distinctes : lire et écrire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LES NOUVEAUTÉS DE CONTENU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qu’il faut désormais enseigner</a:t>
            </a:r>
            <a:endParaRPr lang="en-US" sz="2800" dirty="0"/>
          </a:p>
        </p:txBody>
      </p:sp>
      <p:sp>
        <p:nvSpPr>
          <p:cNvPr id="4" name="Carte L’informatique renforcée"/>
          <p:cNvSpPr/>
          <p:nvPr/>
        </p:nvSpPr>
        <p:spPr>
          <a:xfrm>
            <a:off x="45720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L’informatique renforcée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92452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Données, algorithmes, langages, machines, en lien avec les mathématiques.</a:t>
            </a:r>
            <a:endParaRPr lang="en-US" sz="1250" dirty="0"/>
          </a:p>
        </p:txBody>
      </p:sp>
      <p:sp>
        <p:nvSpPr>
          <p:cNvPr id="8" name="Carte L’intelligence artificielle"/>
          <p:cNvSpPr/>
          <p:nvPr/>
        </p:nvSpPr>
        <p:spPr>
          <a:xfrm>
            <a:off x="326136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5952" y="1554480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L’intelligence artificielle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5952" y="2092452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d’apprentissage, usages, biais et effets sociétaux.</a:t>
            </a:r>
            <a:endParaRPr lang="en-US" sz="1250" dirty="0"/>
          </a:p>
        </p:txBody>
      </p:sp>
      <p:sp>
        <p:nvSpPr>
          <p:cNvPr id="12" name="Carte Les réseaux"/>
          <p:cNvSpPr/>
          <p:nvPr/>
        </p:nvSpPr>
        <p:spPr>
          <a:xfrm>
            <a:off x="606552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0112" y="1554480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réseaux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0112" y="1920240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Commutateurs, routeurs, adresse IP, tables de routage, débit.</a:t>
            </a:r>
            <a:endParaRPr lang="en-US" sz="1250" dirty="0"/>
          </a:p>
        </p:txBody>
      </p:sp>
      <p:sp>
        <p:nvSpPr>
          <p:cNvPr id="16" name="Carte La réparation"/>
          <p:cNvSpPr/>
          <p:nvPr/>
        </p:nvSpPr>
        <p:spPr>
          <a:xfrm>
            <a:off x="45720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621792" y="3154680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73552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réparation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639312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 : identifier une pièce défectueuse. 4e : protocoles de dépannage. 3e : fabriquer une pièce sur mesure.</a:t>
            </a:r>
            <a:endParaRPr lang="en-US" sz="1250" dirty="0"/>
          </a:p>
        </p:txBody>
      </p:sp>
      <p:sp>
        <p:nvSpPr>
          <p:cNvPr id="20" name="Carte Le choix durable"/>
          <p:cNvSpPr/>
          <p:nvPr/>
        </p:nvSpPr>
        <p:spPr>
          <a:xfrm>
            <a:off x="326136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Repère 4"/>
          <p:cNvSpPr/>
          <p:nvPr/>
        </p:nvSpPr>
        <p:spPr>
          <a:xfrm>
            <a:off x="3425952" y="3154680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5952" y="3273552"/>
            <a:ext cx="2292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durable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5952" y="3639312"/>
            <a:ext cx="2292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réparabilité, indice énergétique, impacts environnementaux.</a:t>
            </a:r>
            <a:endParaRPr lang="en-US" sz="1250" dirty="0"/>
          </a:p>
        </p:txBody>
      </p:sp>
      <p:sp>
        <p:nvSpPr>
          <p:cNvPr id="24" name="Carte Le numérique responsable"/>
          <p:cNvSpPr/>
          <p:nvPr/>
        </p:nvSpPr>
        <p:spPr>
          <a:xfrm>
            <a:off x="606552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5" name="Repère 5"/>
          <p:cNvSpPr/>
          <p:nvPr/>
        </p:nvSpPr>
        <p:spPr>
          <a:xfrm>
            <a:off x="6230112" y="3154680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0112" y="3273552"/>
            <a:ext cx="229209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numérique responsable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30112" y="3811524"/>
            <a:ext cx="2292096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Cybersécurité, données personnelles, traces ; liens explicites avec le CRCN.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RÉPONSES AUX QUESTIONS FRÉQUENTES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dit le programme… et ce qu’il ne dit pas</a:t>
            </a:r>
            <a:endParaRPr lang="en-US" sz="2800" dirty="0"/>
          </a:p>
        </p:txBody>
      </p:sp>
      <p:sp>
        <p:nvSpPr>
          <p:cNvPr id="4" name="Carte APTE ou SysML ?"/>
          <p:cNvSpPr/>
          <p:nvPr/>
        </p:nvSpPr>
        <p:spPr>
          <a:xfrm>
            <a:off x="457200" y="1280160"/>
            <a:ext cx="4023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APTE ou SysML 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01952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ne prescrit aucun outil normé : il parle de « modes de représentation » et de schéma bloc. Choisir la représentation qui répond à la question posée : un diagramme, une question.</a:t>
            </a:r>
            <a:endParaRPr lang="en-US" sz="1250" dirty="0"/>
          </a:p>
        </p:txBody>
      </p:sp>
      <p:sp>
        <p:nvSpPr>
          <p:cNvPr id="8" name="Carte Quels objets pour la réparabilité ?"/>
          <p:cNvSpPr/>
          <p:nvPr/>
        </p:nvSpPr>
        <p:spPr>
          <a:xfrm>
            <a:off x="4663440" y="1280160"/>
            <a:ext cx="4023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554480"/>
            <a:ext cx="369417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Quels objets pour la réparabilité 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092452"/>
            <a:ext cx="3694176" cy="68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objets du quotidien, démontables et peu coûteux : panier de basket de bureau (Éduscol, 5e), distributeur de savon (Bordeaux, 3e), petit électroménager, jouets.</a:t>
            </a:r>
            <a:endParaRPr lang="en-US" sz="1250" dirty="0"/>
          </a:p>
        </p:txBody>
      </p:sp>
      <p:sp>
        <p:nvSpPr>
          <p:cNvPr id="12" name="Carte Données : jusqu’où ?"/>
          <p:cNvSpPr/>
          <p:nvPr/>
        </p:nvSpPr>
        <p:spPr>
          <a:xfrm>
            <a:off x="457200" y="3035808"/>
            <a:ext cx="4023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621792" y="3191256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31012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: jusqu’où 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657600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cite types, binaire, listes, tableur. Booléens et codage des caractères servent à comprendre la représentation, pas à faire du calcul pour lui-même.</a:t>
            </a:r>
            <a:endParaRPr lang="en-US" sz="1250" dirty="0"/>
          </a:p>
        </p:txBody>
      </p:sp>
      <p:sp>
        <p:nvSpPr>
          <p:cNvPr id="16" name="Carte Besoins particuliers ?"/>
          <p:cNvSpPr/>
          <p:nvPr/>
        </p:nvSpPr>
        <p:spPr>
          <a:xfrm>
            <a:off x="4663440" y="3035808"/>
            <a:ext cx="4023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4828032" y="3191256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8032" y="331012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Besoins particuliers 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3657600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Alléger la charge parasite (consignes, outils, documents), garder le raisonnement visé ; graduer les aides ; anticiper les aménagements, y compris au DNB.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E3E0"/>
                </a:solidFill>
              </a:rPr>
              <a:t>PARTIE 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Enseigner : didactique, pédagogie, sciences cognitives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nos ateliers ont fait vivre, et ce qu’il faut retenir pour la classe.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DIDACTIQUE · LE SAVOIR ET SES OBSTACLES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L’élève n’arrive jamais vide</a:t>
            </a:r>
            <a:endParaRPr lang="en-US" sz="2800" dirty="0"/>
          </a:p>
        </p:txBody>
      </p:sp>
      <p:sp>
        <p:nvSpPr>
          <p:cNvPr id="4" name="Carte Des représentations tenaces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représentations tenaces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20240"/>
            <a:ext cx="3694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Wi-Fi, c’est Internet. » « 374, c’est la température. » « La visseuse, c’est un moteur. » Ce sont des modèles, pas des trous.</a:t>
            </a:r>
            <a:endParaRPr lang="en-US" sz="1300" dirty="0"/>
          </a:p>
        </p:txBody>
      </p:sp>
      <p:sp>
        <p:nvSpPr>
          <p:cNvPr id="8" name="Carte Des niveaux qui se mélangent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55448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niveaux qui se mélangent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1920240"/>
            <a:ext cx="3694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/ adresse / acheminement ; grandeur / signal / donnée ; besoin / fonction / solution.</a:t>
            </a:r>
            <a:endParaRPr lang="en-US" sz="1300" dirty="0"/>
          </a:p>
        </p:txBody>
      </p:sp>
      <p:sp>
        <p:nvSpPr>
          <p:cNvPr id="12" name="Carte Un vrai problème rend le savoir nécessaire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621792" y="308152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200400"/>
            <a:ext cx="369417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vrai problème rend le savoir nécessaire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738372"/>
            <a:ext cx="3694176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nomme le DNS ou l’hystérésis après en avoir eu besoin.</a:t>
            </a:r>
            <a:endParaRPr lang="en-US" sz="1300" dirty="0"/>
          </a:p>
        </p:txBody>
      </p:sp>
      <p:sp>
        <p:nvSpPr>
          <p:cNvPr id="16" name="Carte Chercher ne suffit pas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4828032" y="308152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8032" y="320040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Chercher ne suffit pas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3566160"/>
            <a:ext cx="3694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mise en commun ni structuration, l’activité reste une activité.</a:t>
            </a:r>
            <a:endParaRPr lang="en-US" sz="1300" dirty="0"/>
          </a:p>
        </p:txBody>
      </p:sp>
      <p:sp>
        <p:nvSpPr>
          <p:cNvPr id="20" name="Bandeau"/>
          <p:cNvSpPr/>
          <p:nvPr/>
        </p:nvSpPr>
        <p:spPr>
          <a:xfrm>
            <a:off x="457200" y="4343400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343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à se poser : quelle idée fausse mon activité va-t-elle obliger à dépasser 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PÉDAGOGIE · LE RÔLE DE L’ENSEIGNANT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sans faire à la place</a:t>
            </a:r>
            <a:endParaRPr lang="en-US" sz="2800" dirty="0"/>
          </a:p>
        </p:txBody>
      </p:sp>
      <p:sp>
        <p:nvSpPr>
          <p:cNvPr id="4" name="Aide 1"/>
          <p:cNvSpPr/>
          <p:nvPr/>
        </p:nvSpPr>
        <p:spPr>
          <a:xfrm>
            <a:off x="457200" y="20116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9FD3CF"/>
          </a:solidFill>
          <a:ln w="12700">
            <a:solidFill>
              <a:srgbClr val="9FD3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20116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Reformuler</a:t>
            </a:r>
            <a:endParaRPr lang="en-US" sz="1250" dirty="0"/>
          </a:p>
        </p:txBody>
      </p:sp>
      <p:sp>
        <p:nvSpPr>
          <p:cNvPr id="6" name="Aide 2"/>
          <p:cNvSpPr/>
          <p:nvPr/>
        </p:nvSpPr>
        <p:spPr>
          <a:xfrm>
            <a:off x="2130552" y="18288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6FBDB8"/>
          </a:solidFill>
          <a:ln w="12700">
            <a:solidFill>
              <a:srgbClr val="6FBD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03704" y="182880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Rappeler un prérequis</a:t>
            </a:r>
            <a:endParaRPr lang="en-US" sz="1250" dirty="0"/>
          </a:p>
        </p:txBody>
      </p:sp>
      <p:sp>
        <p:nvSpPr>
          <p:cNvPr id="8" name="Aide 3"/>
          <p:cNvSpPr/>
          <p:nvPr/>
        </p:nvSpPr>
        <p:spPr>
          <a:xfrm>
            <a:off x="3803904" y="16459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3FA39D"/>
          </a:solidFill>
          <a:ln w="12700">
            <a:solidFill>
              <a:srgbClr val="3FA39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77056" y="16459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Pointer un indice</a:t>
            </a:r>
            <a:endParaRPr lang="en-US" sz="1250" dirty="0"/>
          </a:p>
        </p:txBody>
      </p:sp>
      <p:sp>
        <p:nvSpPr>
          <p:cNvPr id="10" name="Aide 4"/>
          <p:cNvSpPr/>
          <p:nvPr/>
        </p:nvSpPr>
        <p:spPr>
          <a:xfrm>
            <a:off x="5477256" y="146304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50408" y="146304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Exemple partiel</a:t>
            </a:r>
            <a:endParaRPr lang="en-US" sz="1250" dirty="0"/>
          </a:p>
        </p:txBody>
      </p:sp>
      <p:sp>
        <p:nvSpPr>
          <p:cNvPr id="12" name="Aide 5"/>
          <p:cNvSpPr/>
          <p:nvPr/>
        </p:nvSpPr>
        <p:spPr>
          <a:xfrm>
            <a:off x="7150608" y="128016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0A4F4D"/>
          </a:solidFill>
          <a:ln w="12700">
            <a:solidFill>
              <a:srgbClr val="0A4F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1280160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Procédure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plus légère à la plus forte</a:t>
            </a:r>
            <a:endParaRPr lang="en-US" sz="1100" dirty="0"/>
          </a:p>
        </p:txBody>
      </p:sp>
      <p:sp>
        <p:nvSpPr>
          <p:cNvPr id="15" name="Carte Enseignement explicite et investigation"/>
          <p:cNvSpPr/>
          <p:nvPr/>
        </p:nvSpPr>
        <p:spPr>
          <a:xfrm>
            <a:off x="457200" y="2926080"/>
            <a:ext cx="2621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6" name="Repère 0"/>
          <p:cNvSpPr/>
          <p:nvPr/>
        </p:nvSpPr>
        <p:spPr>
          <a:xfrm>
            <a:off x="621792" y="308152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00400"/>
            <a:ext cx="2292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Enseignement explicite et investigation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739896"/>
            <a:ext cx="2292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ne s’opposent pas : expliciter les savoirs et les méthodes, et laisser chercher sur ce qui fait apprendre.</a:t>
            </a:r>
            <a:endParaRPr lang="en-US" sz="1250" dirty="0"/>
          </a:p>
        </p:txBody>
      </p:sp>
      <p:sp>
        <p:nvSpPr>
          <p:cNvPr id="19" name="Carte Laisser la décision à l’élève"/>
          <p:cNvSpPr/>
          <p:nvPr/>
        </p:nvSpPr>
        <p:spPr>
          <a:xfrm>
            <a:off x="3261360" y="2926080"/>
            <a:ext cx="2621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0" name="Repère 1"/>
          <p:cNvSpPr/>
          <p:nvPr/>
        </p:nvSpPr>
        <p:spPr>
          <a:xfrm>
            <a:off x="3425952" y="308152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5952" y="3200400"/>
            <a:ext cx="2292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Laisser la décision à l’élève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5952" y="3739896"/>
            <a:ext cx="2292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test, un seuil, une représentation : si la fiche décide tout, l’élève exécute.</a:t>
            </a:r>
            <a:endParaRPr lang="en-US" sz="1250" dirty="0"/>
          </a:p>
        </p:txBody>
      </p:sp>
      <p:sp>
        <p:nvSpPr>
          <p:cNvPr id="23" name="Carte Le travail en îlots"/>
          <p:cNvSpPr/>
          <p:nvPr/>
        </p:nvSpPr>
        <p:spPr>
          <a:xfrm>
            <a:off x="6065520" y="2926080"/>
            <a:ext cx="2621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4" name="Repère 2"/>
          <p:cNvSpPr/>
          <p:nvPr/>
        </p:nvSpPr>
        <p:spPr>
          <a:xfrm>
            <a:off x="6230112" y="308152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0112" y="3200400"/>
            <a:ext cx="2292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travail en îlots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30112" y="3739896"/>
            <a:ext cx="2292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s’il y a une vraie tâche commune et une trace individuelle ; sinon, on se répartit le travail sans apprendre.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SCIENCES COGNITIVES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repères pour concevoir une séance</a:t>
            </a:r>
            <a:endParaRPr lang="en-US" sz="2800" dirty="0"/>
          </a:p>
        </p:txBody>
      </p:sp>
      <p:sp>
        <p:nvSpPr>
          <p:cNvPr id="4" name="Carte La mémoire de travail est limitée"/>
          <p:cNvSpPr/>
          <p:nvPr/>
        </p:nvSpPr>
        <p:spPr>
          <a:xfrm>
            <a:off x="457200" y="12801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COGNITIVE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01368"/>
            <a:ext cx="3694176" cy="4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mémoire de travail est limitée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23846"/>
            <a:ext cx="3694176" cy="48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logiciel, un vocabulaire et un problème nouveaux à la fois : la difficulté porte sur l’outil, plus sur l’idée.</a:t>
            </a:r>
            <a:endParaRPr lang="en-US" sz="1250" dirty="0"/>
          </a:p>
        </p:txBody>
      </p:sp>
      <p:sp>
        <p:nvSpPr>
          <p:cNvPr id="9" name="Carte Connaître n’est pas expliquer"/>
          <p:cNvSpPr/>
          <p:nvPr/>
        </p:nvSpPr>
        <p:spPr>
          <a:xfrm>
            <a:off x="4663440" y="12801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Repère 1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544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ILLUSION DE COMPRÉHENSION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8013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n’est pas expliquer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2167128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croit connaître une visseuse ou Internet jusqu’au moment de l’expliquer (Rozenblit &amp; Keil).</a:t>
            </a:r>
            <a:endParaRPr lang="en-US" sz="1250" dirty="0"/>
          </a:p>
        </p:txBody>
      </p:sp>
      <p:sp>
        <p:nvSpPr>
          <p:cNvPr id="14" name="Carte Réussir aujourd’hui ne prouve rien de durable"/>
          <p:cNvSpPr/>
          <p:nvPr/>
        </p:nvSpPr>
        <p:spPr>
          <a:xfrm>
            <a:off x="45720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5" name="Repère 2"/>
          <p:cNvSpPr/>
          <p:nvPr/>
        </p:nvSpPr>
        <p:spPr>
          <a:xfrm>
            <a:off x="621792" y="321868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3375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≠ APPRENTISSAGE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94176" cy="4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Réussir aujourd’hui ne prouve rien de durable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106926"/>
            <a:ext cx="3694176" cy="48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: expliquer, retrouver plus tard, transférer ailleurs (Soderstrom &amp; Bjork).</a:t>
            </a:r>
            <a:endParaRPr lang="en-US" sz="1250" dirty="0"/>
          </a:p>
        </p:txBody>
      </p:sp>
      <p:sp>
        <p:nvSpPr>
          <p:cNvPr id="19" name="Carte Faire rappeler, faire reprendre"/>
          <p:cNvSpPr/>
          <p:nvPr/>
        </p:nvSpPr>
        <p:spPr>
          <a:xfrm>
            <a:off x="466344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0" name="Repère 3"/>
          <p:cNvSpPr/>
          <p:nvPr/>
        </p:nvSpPr>
        <p:spPr>
          <a:xfrm>
            <a:off x="4828032" y="321868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3375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ET FEEDBACK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358444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rappeler, faire reprendre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3950208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 sans support quelques jours après ; un feedback qui dit où reprendre le raisonnement.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CONSTRUIRE UNE SÉQUENCE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points de vigilance</a:t>
            </a:r>
            <a:endParaRPr lang="en-US" sz="2800" dirty="0"/>
          </a:p>
        </p:txBody>
      </p:sp>
      <p:sp>
        <p:nvSpPr>
          <p:cNvPr id="4" name="Vigilance 1"/>
          <p:cNvSpPr/>
          <p:nvPr/>
        </p:nvSpPr>
        <p:spPr>
          <a:xfrm>
            <a:off x="457200" y="1280160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N1"/>
          <p:cNvSpPr/>
          <p:nvPr/>
        </p:nvSpPr>
        <p:spPr>
          <a:xfrm>
            <a:off x="594360" y="1527048"/>
            <a:ext cx="402336" cy="402336"/>
          </a:xfrm>
          <a:prstGeom prst="ellipse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3533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activités qui servent les apprentissages essentiels évalués</a:t>
            </a:r>
            <a:endParaRPr lang="en-US" sz="1250" dirty="0"/>
          </a:p>
        </p:txBody>
      </p:sp>
      <p:sp>
        <p:nvSpPr>
          <p:cNvPr id="8" name="Vigilance 2"/>
          <p:cNvSpPr/>
          <p:nvPr/>
        </p:nvSpPr>
        <p:spPr>
          <a:xfrm>
            <a:off x="3246120" y="1280160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N2"/>
          <p:cNvSpPr/>
          <p:nvPr/>
        </p:nvSpPr>
        <p:spPr>
          <a:xfrm>
            <a:off x="3383280" y="1527048"/>
            <a:ext cx="402336" cy="402336"/>
          </a:xfrm>
          <a:prstGeom prst="ellipse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04488" y="13533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contexte accessible et un problème clairement posé</a:t>
            </a:r>
            <a:endParaRPr lang="en-US" sz="1250" dirty="0"/>
          </a:p>
        </p:txBody>
      </p:sp>
      <p:sp>
        <p:nvSpPr>
          <p:cNvPr id="12" name="Vigilance 3"/>
          <p:cNvSpPr/>
          <p:nvPr/>
        </p:nvSpPr>
        <p:spPr>
          <a:xfrm>
            <a:off x="6035040" y="1280160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N3"/>
          <p:cNvSpPr/>
          <p:nvPr/>
        </p:nvSpPr>
        <p:spPr>
          <a:xfrm>
            <a:off x="6172200" y="1527048"/>
            <a:ext cx="402336" cy="402336"/>
          </a:xfrm>
          <a:prstGeom prst="ellipse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93408" y="13533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manipulation pour s’approprier les concepts</a:t>
            </a:r>
            <a:endParaRPr lang="en-US" sz="1250" dirty="0"/>
          </a:p>
        </p:txBody>
      </p:sp>
      <p:sp>
        <p:nvSpPr>
          <p:cNvPr id="16" name="Vigilance 4"/>
          <p:cNvSpPr/>
          <p:nvPr/>
        </p:nvSpPr>
        <p:spPr>
          <a:xfrm>
            <a:off x="457200" y="2304288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N4"/>
          <p:cNvSpPr/>
          <p:nvPr/>
        </p:nvSpPr>
        <p:spPr>
          <a:xfrm>
            <a:off x="594360" y="2551176"/>
            <a:ext cx="402336" cy="402336"/>
          </a:xfrm>
          <a:prstGeom prst="ellipse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23774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démarches explicitées et fait expliciter par les élèves</a:t>
            </a:r>
            <a:endParaRPr lang="en-US" sz="1250" dirty="0"/>
          </a:p>
        </p:txBody>
      </p:sp>
      <p:sp>
        <p:nvSpPr>
          <p:cNvPr id="20" name="Vigilance 5"/>
          <p:cNvSpPr/>
          <p:nvPr/>
        </p:nvSpPr>
        <p:spPr>
          <a:xfrm>
            <a:off x="3246120" y="2304288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N5"/>
          <p:cNvSpPr/>
          <p:nvPr/>
        </p:nvSpPr>
        <p:spPr>
          <a:xfrm>
            <a:off x="3383280" y="2551176"/>
            <a:ext cx="402336" cy="402336"/>
          </a:xfrm>
          <a:prstGeom prst="ellipse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04488" y="23774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retours réguliers sur les productions</a:t>
            </a:r>
            <a:endParaRPr lang="en-US" sz="1250" dirty="0"/>
          </a:p>
        </p:txBody>
      </p:sp>
      <p:sp>
        <p:nvSpPr>
          <p:cNvPr id="24" name="Vigilance 6"/>
          <p:cNvSpPr/>
          <p:nvPr/>
        </p:nvSpPr>
        <p:spPr>
          <a:xfrm>
            <a:off x="6035040" y="2304288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5" name="N6"/>
          <p:cNvSpPr/>
          <p:nvPr/>
        </p:nvSpPr>
        <p:spPr>
          <a:xfrm>
            <a:off x="6172200" y="2551176"/>
            <a:ext cx="402336" cy="402336"/>
          </a:xfrm>
          <a:prstGeom prst="ellipse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93408" y="23774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temps de structuration et de consolidation</a:t>
            </a:r>
            <a:endParaRPr lang="en-US" sz="1250" dirty="0"/>
          </a:p>
        </p:txBody>
      </p:sp>
      <p:sp>
        <p:nvSpPr>
          <p:cNvPr id="28" name="Vigilance 7"/>
          <p:cNvSpPr/>
          <p:nvPr/>
        </p:nvSpPr>
        <p:spPr>
          <a:xfrm>
            <a:off x="457200" y="3328416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9" name="N7"/>
          <p:cNvSpPr/>
          <p:nvPr/>
        </p:nvSpPr>
        <p:spPr>
          <a:xfrm>
            <a:off x="594360" y="3575304"/>
            <a:ext cx="402336" cy="402336"/>
          </a:xfrm>
          <a:prstGeom prst="ellipse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340156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de groupe au service des compétences psychosociales</a:t>
            </a:r>
            <a:endParaRPr lang="en-US" sz="1250" dirty="0"/>
          </a:p>
        </p:txBody>
      </p:sp>
      <p:sp>
        <p:nvSpPr>
          <p:cNvPr id="32" name="Vigilance 8"/>
          <p:cNvSpPr/>
          <p:nvPr/>
        </p:nvSpPr>
        <p:spPr>
          <a:xfrm>
            <a:off x="3246120" y="3328416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33" name="N8"/>
          <p:cNvSpPr/>
          <p:nvPr/>
        </p:nvSpPr>
        <p:spPr>
          <a:xfrm>
            <a:off x="3383280" y="3575304"/>
            <a:ext cx="402336" cy="402336"/>
          </a:xfrm>
          <a:prstGeom prst="ellipse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904488" y="340156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repères de progressivité pour penser la progression</a:t>
            </a:r>
            <a:endParaRPr lang="en-US" sz="1250" dirty="0"/>
          </a:p>
        </p:txBody>
      </p:sp>
      <p:sp>
        <p:nvSpPr>
          <p:cNvPr id="36" name="Vigilance 9"/>
          <p:cNvSpPr/>
          <p:nvPr/>
        </p:nvSpPr>
        <p:spPr>
          <a:xfrm>
            <a:off x="6035040" y="3328416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37" name="N9"/>
          <p:cNvSpPr/>
          <p:nvPr/>
        </p:nvSpPr>
        <p:spPr>
          <a:xfrm>
            <a:off x="6172200" y="3575304"/>
            <a:ext cx="402336" cy="402336"/>
          </a:xfrm>
          <a:prstGeom prst="ellipse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72200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693408" y="340156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l’évaluation des apprentissages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CHOISIR LES SUPPORTS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des objets techniques étudiés</a:t>
            </a:r>
            <a:endParaRPr lang="en-US" sz="2800" dirty="0"/>
          </a:p>
        </p:txBody>
      </p:sp>
      <p:sp>
        <p:nvSpPr>
          <p:cNvPr id="4" name="Carte Le triptyque MEI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triptyque MEI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939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Matière, énergie, information : un objet qui les fait voir toutes les trois.</a:t>
            </a:r>
            <a:endParaRPr lang="en-US" sz="1250" dirty="0"/>
          </a:p>
        </p:txBody>
      </p:sp>
      <p:sp>
        <p:nvSpPr>
          <p:cNvPr id="8" name="Carte Un besoin contemporain"/>
          <p:cNvSpPr/>
          <p:nvPr/>
        </p:nvSpPr>
        <p:spPr>
          <a:xfrm>
            <a:off x="256032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272491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15544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besoin contemporain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0939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Sociétal ou environnemental : santé, mobilité, énergie, climat.</a:t>
            </a:r>
            <a:endParaRPr lang="en-US" sz="1250" dirty="0"/>
          </a:p>
        </p:txBody>
      </p:sp>
      <p:sp>
        <p:nvSpPr>
          <p:cNvPr id="12" name="Carte L’égalité filles-garçons"/>
          <p:cNvSpPr/>
          <p:nvPr/>
        </p:nvSpPr>
        <p:spPr>
          <a:xfrm>
            <a:off x="466344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15544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L’égalité filles-garçons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0939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contextes variés, qui parlent à tous les élèves.</a:t>
            </a:r>
            <a:endParaRPr lang="en-US" sz="1250" dirty="0"/>
          </a:p>
        </p:txBody>
      </p:sp>
      <p:sp>
        <p:nvSpPr>
          <p:cNvPr id="16" name="Carte Le quotidien de l’élève"/>
          <p:cNvSpPr/>
          <p:nvPr/>
        </p:nvSpPr>
        <p:spPr>
          <a:xfrm>
            <a:off x="676656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693115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1152" y="15544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quotidien de l’élève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20939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qu’il connaît… et qu’il croit comprendre.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Exemples utilisés dans la formation</a:t>
            </a:r>
            <a:endParaRPr lang="en-US" sz="1400" dirty="0"/>
          </a:p>
        </p:txBody>
      </p:sp>
      <p:sp>
        <p:nvSpPr>
          <p:cNvPr id="21" name="Exemple 0"/>
          <p:cNvSpPr/>
          <p:nvPr/>
        </p:nvSpPr>
        <p:spPr>
          <a:xfrm>
            <a:off x="457200" y="3401568"/>
            <a:ext cx="2606040" cy="530352"/>
          </a:xfrm>
          <a:prstGeom prst="roundRect">
            <a:avLst>
              <a:gd name="adj" fmla="val 2069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4015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Trottinette électrique</a:t>
            </a:r>
            <a:endParaRPr lang="en-US" sz="1350" dirty="0"/>
          </a:p>
        </p:txBody>
      </p:sp>
      <p:sp>
        <p:nvSpPr>
          <p:cNvPr id="23" name="Exemple 1"/>
          <p:cNvSpPr/>
          <p:nvPr/>
        </p:nvSpPr>
        <p:spPr>
          <a:xfrm>
            <a:off x="3246120" y="3401568"/>
            <a:ext cx="2606040" cy="530352"/>
          </a:xfrm>
          <a:prstGeom prst="roundRect">
            <a:avLst>
              <a:gd name="adj" fmla="val 2069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34015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Aspirateur robot</a:t>
            </a:r>
            <a:endParaRPr lang="en-US" sz="1350" dirty="0"/>
          </a:p>
        </p:txBody>
      </p:sp>
      <p:sp>
        <p:nvSpPr>
          <p:cNvPr id="25" name="Exemple 2"/>
          <p:cNvSpPr/>
          <p:nvPr/>
        </p:nvSpPr>
        <p:spPr>
          <a:xfrm>
            <a:off x="6035040" y="3401568"/>
            <a:ext cx="2606040" cy="530352"/>
          </a:xfrm>
          <a:prstGeom prst="roundRect">
            <a:avLst>
              <a:gd name="adj" fmla="val 2069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4015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météo connectée</a:t>
            </a:r>
            <a:endParaRPr lang="en-US" sz="1350" dirty="0"/>
          </a:p>
        </p:txBody>
      </p:sp>
      <p:sp>
        <p:nvSpPr>
          <p:cNvPr id="27" name="Exemple 3"/>
          <p:cNvSpPr/>
          <p:nvPr/>
        </p:nvSpPr>
        <p:spPr>
          <a:xfrm>
            <a:off x="457200" y="4041648"/>
            <a:ext cx="2606040" cy="530352"/>
          </a:xfrm>
          <a:prstGeom prst="roundRect">
            <a:avLst>
              <a:gd name="adj" fmla="val 2069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Visseuse sans fil</a:t>
            </a:r>
            <a:endParaRPr lang="en-US" sz="1350" dirty="0"/>
          </a:p>
        </p:txBody>
      </p:sp>
      <p:sp>
        <p:nvSpPr>
          <p:cNvPr id="29" name="Exemple 4"/>
          <p:cNvSpPr/>
          <p:nvPr/>
        </p:nvSpPr>
        <p:spPr>
          <a:xfrm>
            <a:off x="3246120" y="4041648"/>
            <a:ext cx="2606040" cy="530352"/>
          </a:xfrm>
          <a:prstGeom prst="roundRect">
            <a:avLst>
              <a:gd name="adj" fmla="val 2069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IP</a:t>
            </a:r>
            <a:endParaRPr lang="en-US" sz="1350" dirty="0"/>
          </a:p>
        </p:txBody>
      </p:sp>
      <p:sp>
        <p:nvSpPr>
          <p:cNvPr id="31" name="Exemple 5"/>
          <p:cNvSpPr/>
          <p:nvPr/>
        </p:nvSpPr>
        <p:spPr>
          <a:xfrm>
            <a:off x="6035040" y="4041648"/>
            <a:ext cx="2606040" cy="530352"/>
          </a:xfrm>
          <a:prstGeom prst="roundRect">
            <a:avLst>
              <a:gd name="adj" fmla="val 2069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 3D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E3E0"/>
                </a:solidFill>
              </a:rPr>
              <a:t>PARTIE 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: le DNB à partir de la session 2027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service du 11 septembre 2026 (MENE2623228N) et maîtrise de la langue (MENE2623195N).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L’ARCHITECTURE DE L’EXAMEN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DNB à partir de 2027</a:t>
            </a:r>
            <a:endParaRPr lang="en-US" sz="2800" dirty="0"/>
          </a:p>
        </p:txBody>
      </p:sp>
      <p:sp>
        <p:nvSpPr>
          <p:cNvPr id="4" name="Chiffre 0"/>
          <p:cNvSpPr/>
          <p:nvPr/>
        </p:nvSpPr>
        <p:spPr>
          <a:xfrm>
            <a:off x="457200" y="1261872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40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épreuves terminales / contrôle continu</a:t>
            </a:r>
            <a:endParaRPr lang="en-US" sz="1200" dirty="0"/>
          </a:p>
        </p:txBody>
      </p:sp>
      <p:sp>
        <p:nvSpPr>
          <p:cNvPr id="7" name="Chiffre 1"/>
          <p:cNvSpPr/>
          <p:nvPr/>
        </p:nvSpPr>
        <p:spPr>
          <a:xfrm>
            <a:off x="2551176" y="1261872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88336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4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+ 1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88336" y="18745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écrits et un oral (candidats scolaires)</a:t>
            </a:r>
            <a:endParaRPr lang="en-US" sz="1200" dirty="0"/>
          </a:p>
        </p:txBody>
      </p:sp>
      <p:sp>
        <p:nvSpPr>
          <p:cNvPr id="10" name="Chiffre 2"/>
          <p:cNvSpPr/>
          <p:nvPr/>
        </p:nvSpPr>
        <p:spPr>
          <a:xfrm>
            <a:off x="4645152" y="1261872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82312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A6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sur 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82312" y="18745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 retenues en sciences à chaque session</a:t>
            </a:r>
            <a:endParaRPr lang="en-US" sz="1200" dirty="0"/>
          </a:p>
        </p:txBody>
      </p:sp>
      <p:sp>
        <p:nvSpPr>
          <p:cNvPr id="13" name="Chiffre 3"/>
          <p:cNvSpPr/>
          <p:nvPr/>
        </p:nvSpPr>
        <p:spPr>
          <a:xfrm>
            <a:off x="6739128" y="1261872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points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18745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langue dans chaque épreuve écrite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737360"/>
                <a:gridCol w="13716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Épreuve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5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 (dictée, texte et questions, rédaction)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Mathématiques (automatismes, puis problèmes)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Histoire-géographie et EMC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+ 0,5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Sciences : deux disciplines parmi physique-chimie, SVT, technologie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18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de soutenance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 (25 en groupe)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L’ÉPREUVE DE SCIENCES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technologie : 10 points sur 20</a:t>
            </a:r>
            <a:endParaRPr lang="en-US" sz="2800" dirty="0"/>
          </a:p>
        </p:txBody>
      </p:sp>
      <p:sp>
        <p:nvSpPr>
          <p:cNvPr id="4" name="Avant"/>
          <p:cNvSpPr/>
          <p:nvPr/>
        </p:nvSpPr>
        <p:spPr>
          <a:xfrm>
            <a:off x="457200" y="1280160"/>
            <a:ext cx="39319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Après"/>
          <p:cNvSpPr/>
          <p:nvPr/>
        </p:nvSpPr>
        <p:spPr>
          <a:xfrm>
            <a:off x="4754880" y="1280160"/>
            <a:ext cx="3931920" cy="1965960"/>
          </a:xfrm>
          <a:prstGeom prst="roundRect">
            <a:avLst>
              <a:gd name="adj" fmla="val 5581"/>
            </a:avLst>
          </a:prstGeom>
          <a:solidFill>
            <a:srgbClr val="FBE8F0"/>
          </a:solidFill>
          <a:ln w="12700">
            <a:solidFill>
              <a:srgbClr val="FB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JUSQU’EN 2026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A6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points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discipline, dans une épreuve de sciences sur 50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LA SESSION 2027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91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points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377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discipline, dans une épreuve notée sur 20, dont 1 point de maîtrise de la langue</a:t>
            </a:r>
            <a:endParaRPr lang="en-US" sz="1400" dirty="0"/>
          </a:p>
        </p:txBody>
      </p:sp>
      <p:sp>
        <p:nvSpPr>
          <p:cNvPr id="12" name="Flèche"/>
          <p:cNvSpPr/>
          <p:nvPr/>
        </p:nvSpPr>
        <p:spPr>
          <a:xfrm>
            <a:off x="4407408" y="2057400"/>
            <a:ext cx="329184" cy="365760"/>
          </a:xfrm>
          <a:prstGeom prst="rightArrow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3" name="Carte 1 heure, une seule copie"/>
          <p:cNvSpPr/>
          <p:nvPr/>
        </p:nvSpPr>
        <p:spPr>
          <a:xfrm>
            <a:off x="457200" y="3429000"/>
            <a:ext cx="26212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4" name="Repère 0"/>
          <p:cNvSpPr/>
          <p:nvPr/>
        </p:nvSpPr>
        <p:spPr>
          <a:xfrm>
            <a:off x="621792" y="358444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703320"/>
            <a:ext cx="2292096" cy="4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heure, une seule copie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4210304"/>
            <a:ext cx="2292096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disciplines, environ 30 minutes chacune.</a:t>
            </a:r>
            <a:endParaRPr lang="en-US" sz="1250" dirty="0"/>
          </a:p>
        </p:txBody>
      </p:sp>
      <p:sp>
        <p:nvSpPr>
          <p:cNvPr id="17" name="Carte Deux disciplines sur trois"/>
          <p:cNvSpPr/>
          <p:nvPr/>
        </p:nvSpPr>
        <p:spPr>
          <a:xfrm>
            <a:off x="3261360" y="3429000"/>
            <a:ext cx="26212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8" name="Repère 1"/>
          <p:cNvSpPr/>
          <p:nvPr/>
        </p:nvSpPr>
        <p:spPr>
          <a:xfrm>
            <a:off x="3425952" y="358444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5952" y="3703320"/>
            <a:ext cx="2292096" cy="4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disciplines sur trois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25952" y="4210304"/>
            <a:ext cx="2292096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Annoncées deux mois avant l’examen ; peut différer à l’étranger.</a:t>
            </a:r>
            <a:endParaRPr lang="en-US" sz="1250" dirty="0"/>
          </a:p>
        </p:txBody>
      </p:sp>
      <p:sp>
        <p:nvSpPr>
          <p:cNvPr id="21" name="Carte Le programme de 3e"/>
          <p:cNvSpPr/>
          <p:nvPr/>
        </p:nvSpPr>
        <p:spPr>
          <a:xfrm>
            <a:off x="6065520" y="3429000"/>
            <a:ext cx="26212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2" name="Repère 2"/>
          <p:cNvSpPr/>
          <p:nvPr/>
        </p:nvSpPr>
        <p:spPr>
          <a:xfrm>
            <a:off x="6230112" y="358444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0112" y="3703320"/>
            <a:ext cx="229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programme de 3e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30112" y="4032504"/>
            <a:ext cx="2292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sujets portent sur le programme de 3e en vigueur.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LA MAÎTRISE DE LA LANGUE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Évaluée dans toutes les disciplines</a:t>
            </a:r>
            <a:endParaRPr lang="en-US" sz="2800" dirty="0"/>
          </a:p>
        </p:txBody>
      </p:sp>
      <p:sp>
        <p:nvSpPr>
          <p:cNvPr id="4" name="Carte Une compétence indispensable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013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compétence indispensable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67128"/>
            <a:ext cx="3694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rendre compte de connaissances et de raisonnements, la maîtrise de la langue est évaluée dans l’ensemble des disciplines.</a:t>
            </a:r>
            <a:endParaRPr lang="en-US" sz="1300" dirty="0"/>
          </a:p>
        </p:txBody>
      </p:sp>
      <p:sp>
        <p:nvSpPr>
          <p:cNvPr id="9" name="Carte 1 point par discipline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Repère 1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544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SCIENCES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8013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 par discipline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2167128"/>
            <a:ext cx="3694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 sur 20 pour l’épreuve, soit 1 point sur 10 en technologie : réservé dans le barème, pas retiré d’une note acquise.</a:t>
            </a:r>
            <a:endParaRPr lang="en-US" sz="1300" dirty="0"/>
          </a:p>
        </p:txBody>
      </p:sp>
      <p:sp>
        <p:nvSpPr>
          <p:cNvPr id="14" name="Dimension Orthographe"/>
          <p:cNvSpPr/>
          <p:nvPr/>
        </p:nvSpPr>
        <p:spPr>
          <a:xfrm>
            <a:off x="457200" y="301752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090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Orthographe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lexicale et grammaticale</a:t>
            </a:r>
            <a:endParaRPr lang="en-US" sz="1200" dirty="0"/>
          </a:p>
        </p:txBody>
      </p:sp>
      <p:sp>
        <p:nvSpPr>
          <p:cNvPr id="17" name="Dimension Syntaxe"/>
          <p:cNvSpPr/>
          <p:nvPr/>
        </p:nvSpPr>
        <p:spPr>
          <a:xfrm>
            <a:off x="2551176" y="301752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88336" y="3090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88336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phrases</a:t>
            </a:r>
            <a:endParaRPr lang="en-US" sz="1200" dirty="0"/>
          </a:p>
        </p:txBody>
      </p:sp>
      <p:sp>
        <p:nvSpPr>
          <p:cNvPr id="20" name="Dimension Lexique"/>
          <p:cNvSpPr/>
          <p:nvPr/>
        </p:nvSpPr>
        <p:spPr>
          <a:xfrm>
            <a:off x="4645152" y="301752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82312" y="3090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Lexique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82312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les termes de la discipline</a:t>
            </a:r>
            <a:endParaRPr lang="en-US" sz="1200" dirty="0"/>
          </a:p>
        </p:txBody>
      </p:sp>
      <p:sp>
        <p:nvSpPr>
          <p:cNvPr id="23" name="Dimension Organisation"/>
          <p:cNvSpPr/>
          <p:nvPr/>
        </p:nvSpPr>
        <p:spPr>
          <a:xfrm>
            <a:off x="6739128" y="301752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76288" y="3090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propos et de la réflexion</a:t>
            </a:r>
            <a:endParaRPr lang="en-US" sz="1200" dirty="0"/>
          </a:p>
        </p:txBody>
      </p:sp>
      <p:sp>
        <p:nvSpPr>
          <p:cNvPr id="26" name="Bandeau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paliers communs à toutes les disciplines : très insuffisant, insuffisant, satisfaisant, très satisfaisant.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LES PALIERS DESCRIPTIFS D’APPRÉCIATION DE LA MAÎTRISE DE LA LANGUE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grille officielle des paliers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60220"/>
                <a:gridCol w="1760220"/>
                <a:gridCol w="1760220"/>
                <a:gridCol w="17602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insuffisant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Insuffisant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Satisfaisant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satisfaisant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5A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Orthographe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Erreurs très fréquentes, notamment sur des règles simples (accords sujet-verbe, accords dans le groupe nominal…).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Erreurs fréquentes et/ou répétées (accords, conjugaison, homophones…).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Erreurs ponctuelles, lexicales ou grammaticales, qui ne se répètent pas de façon systématique.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Orthographe lexicale et grammaticale maîtrisée ; erreurs isolées, sans caractère systématique.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5A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 très défaillante : nombreuses phrases mal construites, incompréhensibles ou ponctuation inopérante.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des phrases fragile : maladresses récurrentes, phrases parfois mal structurées.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Phrases globalement bien construites malgré quelques maladresses ponctuelles.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Phrases correctement construites, syntaxe maîtrisée voire riche (subordination, coordination…).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5A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lexique, notamment celui de la discipline, est employé à mauvais escient ou très pauvre.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lexique, notamment celui de la discipline, est pauvre et parfois employé à mauvais escient.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lexique, notamment celui de la discipline, est globalement correct.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lexique, notamment celui de la discipline, est riche et correctement utilisé.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5A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propos n’est pas organisé.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propos est organisé de manière peu pertinente.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propos est organisé de manière globalement cohérente.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propos est organisé de manière cohérente ; un fil conducteur perceptible et pertinent.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 SUJET DE RÉFÉRENCE · TECHNOLOGIE, SÉRIE GÉNÉRALE N° 01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drone océanique, quatre questions</a:t>
            </a:r>
            <a:endParaRPr lang="en-US" sz="2800" dirty="0"/>
          </a:p>
        </p:txBody>
      </p:sp>
      <p:sp>
        <p:nvSpPr>
          <p:cNvPr id="4" name="Question 1"/>
          <p:cNvSpPr/>
          <p:nvPr/>
        </p:nvSpPr>
        <p:spPr>
          <a:xfrm>
            <a:off x="457200" y="1280160"/>
            <a:ext cx="1965960" cy="25146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Q1"/>
          <p:cNvSpPr/>
          <p:nvPr/>
        </p:nvSpPr>
        <p:spPr>
          <a:xfrm>
            <a:off x="621792" y="1444752"/>
            <a:ext cx="457200" cy="457200"/>
          </a:xfrm>
          <a:prstGeom prst="ellipse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578608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constituants de la chaîne d’énergie du déplacement et la représenter par un schéma bloc.</a:t>
            </a:r>
            <a:endParaRPr lang="en-US" sz="1200" dirty="0"/>
          </a:p>
        </p:txBody>
      </p:sp>
      <p:sp>
        <p:nvSpPr>
          <p:cNvPr id="9" name="Question 2"/>
          <p:cNvSpPr/>
          <p:nvPr/>
        </p:nvSpPr>
        <p:spPr>
          <a:xfrm>
            <a:off x="2551176" y="1280160"/>
            <a:ext cx="1965960" cy="25146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Q2"/>
          <p:cNvSpPr/>
          <p:nvPr/>
        </p:nvSpPr>
        <p:spPr>
          <a:xfrm>
            <a:off x="2715768" y="1444752"/>
            <a:ext cx="457200" cy="457200"/>
          </a:xfrm>
          <a:prstGeom prst="ellipse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15768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et justifier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15768" y="2578608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l’hélice et le moteur qui respectent deux exigences (6 nœuds minimum, moteur le plus léger).</a:t>
            </a:r>
            <a:endParaRPr lang="en-US" sz="1200" dirty="0"/>
          </a:p>
        </p:txBody>
      </p:sp>
      <p:sp>
        <p:nvSpPr>
          <p:cNvPr id="14" name="Question 3"/>
          <p:cNvSpPr/>
          <p:nvPr/>
        </p:nvSpPr>
        <p:spPr>
          <a:xfrm>
            <a:off x="4645152" y="1280160"/>
            <a:ext cx="1965960" cy="25146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5" name="Q3"/>
          <p:cNvSpPr/>
          <p:nvPr/>
        </p:nvSpPr>
        <p:spPr>
          <a:xfrm>
            <a:off x="4809744" y="1444752"/>
            <a:ext cx="457200" cy="457200"/>
          </a:xfrm>
          <a:prstGeom prst="ellipse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9744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6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un protocole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2578608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 protocole (schéma, matériel, texte) pour vérifier une précision de 25 cm du sonar.</a:t>
            </a:r>
            <a:endParaRPr lang="en-US" sz="1200" dirty="0"/>
          </a:p>
        </p:txBody>
      </p:sp>
      <p:sp>
        <p:nvSpPr>
          <p:cNvPr id="19" name="Question 4"/>
          <p:cNvSpPr/>
          <p:nvPr/>
        </p:nvSpPr>
        <p:spPr>
          <a:xfrm>
            <a:off x="6739128" y="1280160"/>
            <a:ext cx="1965960" cy="25146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0" name="Q4"/>
          <p:cNvSpPr/>
          <p:nvPr/>
        </p:nvSpPr>
        <p:spPr>
          <a:xfrm>
            <a:off x="6903720" y="1444752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578608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un programme à partir d’un comportement décrit (blocs ou pseudocode).</a:t>
            </a:r>
            <a:endParaRPr lang="en-US" sz="1200" dirty="0"/>
          </a:p>
        </p:txBody>
      </p:sp>
      <p:sp>
        <p:nvSpPr>
          <p:cNvPr id="24" name="Bandeau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BE8F0"/>
          </a:solidFill>
          <a:ln w="12700">
            <a:solidFill>
              <a:srgbClr val="FB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essais et les démarches engagées, même non abouties, seront prises en compte dans l’évaluation. »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CE QUE CELA CHANGE EN CLASSE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les élèves dès la 5e</a:t>
            </a:r>
            <a:endParaRPr lang="en-US" sz="2800" dirty="0"/>
          </a:p>
        </p:txBody>
      </p:sp>
      <p:sp>
        <p:nvSpPr>
          <p:cNvPr id="4" name="Carte Faire rédiger des justifications"/>
          <p:cNvSpPr/>
          <p:nvPr/>
        </p:nvSpPr>
        <p:spPr>
          <a:xfrm>
            <a:off x="45720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5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92096" cy="4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rédiger des justifications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76958"/>
            <a:ext cx="2292096" cy="66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phrase complète, le mot technique juste, un « car » ou un « donc ».</a:t>
            </a:r>
            <a:endParaRPr lang="en-US" sz="1250" dirty="0"/>
          </a:p>
        </p:txBody>
      </p:sp>
      <p:sp>
        <p:nvSpPr>
          <p:cNvPr id="8" name="Carte Travailler le vocabulaire"/>
          <p:cNvSpPr/>
          <p:nvPr/>
        </p:nvSpPr>
        <p:spPr>
          <a:xfrm>
            <a:off x="326136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9" name="Repère 1"/>
          <p:cNvSpPr/>
          <p:nvPr/>
        </p:nvSpPr>
        <p:spPr>
          <a:xfrm>
            <a:off x="342595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5952" y="1554480"/>
            <a:ext cx="2292096" cy="4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Travailler le vocabulaire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425952" y="2076958"/>
            <a:ext cx="2292096" cy="66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lexique de la discipline compte : chaîne d’énergie, exigence, protocole, variable…</a:t>
            </a:r>
            <a:endParaRPr lang="en-US" sz="1250" dirty="0"/>
          </a:p>
        </p:txBody>
      </p:sp>
      <p:sp>
        <p:nvSpPr>
          <p:cNvPr id="12" name="Carte Lire un document technique"/>
          <p:cNvSpPr/>
          <p:nvPr/>
        </p:nvSpPr>
        <p:spPr>
          <a:xfrm>
            <a:off x="6065520" y="1280160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Repère 2"/>
          <p:cNvSpPr/>
          <p:nvPr/>
        </p:nvSpPr>
        <p:spPr>
          <a:xfrm>
            <a:off x="623011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0112" y="1554480"/>
            <a:ext cx="2292096" cy="4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un document technique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230112" y="2076958"/>
            <a:ext cx="2292096" cy="66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une donnée dans une fiche, un tableau, un schéma avant de répondre.</a:t>
            </a:r>
            <a:endParaRPr lang="en-US" sz="1250" dirty="0"/>
          </a:p>
        </p:txBody>
      </p:sp>
      <p:sp>
        <p:nvSpPr>
          <p:cNvPr id="16" name="Carte Proposer des questions ouvertes"/>
          <p:cNvSpPr/>
          <p:nvPr/>
        </p:nvSpPr>
        <p:spPr>
          <a:xfrm>
            <a:off x="45720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3"/>
          <p:cNvSpPr/>
          <p:nvPr/>
        </p:nvSpPr>
        <p:spPr>
          <a:xfrm>
            <a:off x="621792" y="3154680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73552"/>
            <a:ext cx="2292096" cy="4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des questions ouvertes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796030"/>
            <a:ext cx="2292096" cy="66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et justifier, concevoir un protocole : pas seulement restituer.</a:t>
            </a:r>
            <a:endParaRPr lang="en-US" sz="1250" dirty="0"/>
          </a:p>
        </p:txBody>
      </p:sp>
      <p:sp>
        <p:nvSpPr>
          <p:cNvPr id="20" name="Carte Valoriser les démarches"/>
          <p:cNvSpPr/>
          <p:nvPr/>
        </p:nvSpPr>
        <p:spPr>
          <a:xfrm>
            <a:off x="326136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Repère 4"/>
          <p:cNvSpPr/>
          <p:nvPr/>
        </p:nvSpPr>
        <p:spPr>
          <a:xfrm>
            <a:off x="3425952" y="3154680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5952" y="3273552"/>
            <a:ext cx="2292096" cy="4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Valoriser les démarches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425952" y="3796030"/>
            <a:ext cx="2292096" cy="66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écrire les essais et les hypothèses, pas seulement le résultat.</a:t>
            </a:r>
            <a:endParaRPr lang="en-US" sz="1250" dirty="0"/>
          </a:p>
        </p:txBody>
      </p:sp>
      <p:sp>
        <p:nvSpPr>
          <p:cNvPr id="24" name="Carte Utiliser la grille commune"/>
          <p:cNvSpPr/>
          <p:nvPr/>
        </p:nvSpPr>
        <p:spPr>
          <a:xfrm>
            <a:off x="6065520" y="2999232"/>
            <a:ext cx="2621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5" name="Repère 5"/>
          <p:cNvSpPr/>
          <p:nvPr/>
        </p:nvSpPr>
        <p:spPr>
          <a:xfrm>
            <a:off x="6230112" y="3154680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0112" y="3273552"/>
            <a:ext cx="2292096" cy="4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la grille commune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230112" y="3796030"/>
            <a:ext cx="2292096" cy="66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dimensions de la langue, avec un feedback qui permet d’agir.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E3E0"/>
                </a:solidFill>
              </a:rPr>
              <a:t>PARTIE 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et formation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textes officiels, les ressources d’accompagnement, et le site de la formation.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LES RESSOURCES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trouver quoi</a:t>
            </a:r>
            <a:endParaRPr lang="en-US" sz="2800" dirty="0"/>
          </a:p>
        </p:txBody>
      </p:sp>
      <p:sp>
        <p:nvSpPr>
          <p:cNvPr id="4" name="Lien programme.teckno.fr"/>
          <p:cNvSpPr/>
          <p:nvPr/>
        </p:nvSpPr>
        <p:spPr>
          <a:xfrm>
            <a:off x="6446520" y="237744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46520" y="2377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uvrir programme.teckno.f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programme.teckno.fr ↗</a:t>
            </a:r>
            <a:endParaRPr lang="en-US" sz="1200" dirty="0"/>
          </a:p>
        </p:txBody>
      </p:sp>
      <p:sp>
        <p:nvSpPr>
          <p:cNvPr id="6" name="Carte Le programme et le DNB"/>
          <p:cNvSpPr/>
          <p:nvPr/>
        </p:nvSpPr>
        <p:spPr>
          <a:xfrm>
            <a:off x="457200" y="12801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7" name="Repère 0"/>
          <p:cNvSpPr/>
          <p:nvPr/>
        </p:nvSpPr>
        <p:spPr>
          <a:xfrm>
            <a:off x="621792" y="143560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5544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OFFICIELS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8013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programme et le DNB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167128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Arrêté du 9 février 2024 (BO n° 9 du 29 février 2024). Notes de service MENE2623228N et MENE2623195N (septembre 2026).</a:t>
            </a:r>
            <a:endParaRPr lang="en-US" sz="1250" dirty="0"/>
          </a:p>
        </p:txBody>
      </p:sp>
      <p:sp>
        <p:nvSpPr>
          <p:cNvPr id="11" name="Carte Accompagnement du programme"/>
          <p:cNvSpPr/>
          <p:nvPr/>
        </p:nvSpPr>
        <p:spPr>
          <a:xfrm>
            <a:off x="4663440" y="12801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2" name="Repère 1"/>
          <p:cNvSpPr/>
          <p:nvPr/>
        </p:nvSpPr>
        <p:spPr>
          <a:xfrm>
            <a:off x="4828032" y="143560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5544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ÉDUSCOL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18013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du programme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167128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d’accompagnement (2024), ressources de 5e (cardiofréquencemètre, réparation d’un panier de basket), sujets de référence du DNB.</a:t>
            </a:r>
            <a:endParaRPr lang="en-US" sz="1250" dirty="0"/>
          </a:p>
        </p:txBody>
      </p:sp>
      <p:sp>
        <p:nvSpPr>
          <p:cNvPr id="16" name="Carte Banques de séquences"/>
          <p:cNvSpPr/>
          <p:nvPr/>
        </p:nvSpPr>
        <p:spPr>
          <a:xfrm>
            <a:off x="45720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7" name="Repère 2"/>
          <p:cNvSpPr/>
          <p:nvPr/>
        </p:nvSpPr>
        <p:spPr>
          <a:xfrm>
            <a:off x="621792" y="321868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3375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58444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Banques de séquences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950208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 de Bordeaux : exemples de séquences de 3e (navigation, mBot, robot livreur, distributeur de savon, borne d’arcade).</a:t>
            </a:r>
            <a:endParaRPr lang="en-US" sz="1250" dirty="0"/>
          </a:p>
        </p:txBody>
      </p:sp>
      <p:sp>
        <p:nvSpPr>
          <p:cNvPr id="21" name="Carte programme.teckno.fr et le site de formation"/>
          <p:cNvSpPr/>
          <p:nvPr/>
        </p:nvSpPr>
        <p:spPr>
          <a:xfrm>
            <a:off x="466344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2" name="Repère 3"/>
          <p:cNvSpPr/>
          <p:nvPr/>
        </p:nvSpPr>
        <p:spPr>
          <a:xfrm>
            <a:off x="4828032" y="3218688"/>
            <a:ext cx="329184" cy="5486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28032" y="33375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3584448"/>
            <a:ext cx="369417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programme.teckno.fr et le site de formation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4122420"/>
            <a:ext cx="3694176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portail enseignant du cycle 4 (moteur de recherche) et le site Technologie 3e : parcours, ateliers, DNB 2027.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UN PORTAIL POUR PRÉPARER SES COURS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programme à la séquence, en un seul lieu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entrées, organisées autour des tâches réelles du professeur</a:t>
            </a:r>
            <a:endParaRPr lang="en-US" sz="1400" dirty="0"/>
          </a:p>
        </p:txBody>
      </p:sp>
      <p:sp>
        <p:nvSpPr>
          <p:cNvPr id="5" name="Carte Une progression"/>
          <p:cNvSpPr/>
          <p:nvPr/>
        </p:nvSpPr>
        <p:spPr>
          <a:xfrm>
            <a:off x="457200" y="153619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6" name="Repère 0"/>
          <p:cNvSpPr/>
          <p:nvPr/>
        </p:nvSpPr>
        <p:spPr>
          <a:xfrm>
            <a:off x="621792" y="1691640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81051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CONSTRUIS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574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progression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368296"/>
            <a:ext cx="23225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5e → 4e → 3e et outils pour vérifier la couverture du programme.</a:t>
            </a:r>
            <a:endParaRPr lang="en-US" sz="1150" dirty="0"/>
          </a:p>
        </p:txBody>
      </p:sp>
      <p:sp>
        <p:nvSpPr>
          <p:cNvPr id="10" name="Carte Une séquence"/>
          <p:cNvSpPr/>
          <p:nvPr/>
        </p:nvSpPr>
        <p:spPr>
          <a:xfrm>
            <a:off x="3246120" y="153619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1" name="Repère 1"/>
          <p:cNvSpPr/>
          <p:nvPr/>
        </p:nvSpPr>
        <p:spPr>
          <a:xfrm>
            <a:off x="3410712" y="1691640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81051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PRÉPARE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20574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séquence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2368296"/>
            <a:ext cx="23225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en 6 étapes, trames professeur, quatre démarches.</a:t>
            </a:r>
            <a:endParaRPr lang="en-US" sz="1150" dirty="0"/>
          </a:p>
        </p:txBody>
      </p:sp>
      <p:sp>
        <p:nvSpPr>
          <p:cNvPr id="15" name="Carte Une activité"/>
          <p:cNvSpPr/>
          <p:nvPr/>
        </p:nvSpPr>
        <p:spPr>
          <a:xfrm>
            <a:off x="6035040" y="153619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6" name="Repère 2"/>
          <p:cNvSpPr/>
          <p:nvPr/>
        </p:nvSpPr>
        <p:spPr>
          <a:xfrm>
            <a:off x="6199632" y="1691640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181051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CHERCHE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20574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activité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368296"/>
            <a:ext cx="23225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Séquences 5e, 4e, 3e nationales (RNR) et académiques, filtrables.</a:t>
            </a:r>
            <a:endParaRPr lang="en-US" sz="1150" dirty="0"/>
          </a:p>
        </p:txBody>
      </p:sp>
      <p:sp>
        <p:nvSpPr>
          <p:cNvPr id="20" name="Carte Une fiche"/>
          <p:cNvSpPr/>
          <p:nvPr/>
        </p:nvSpPr>
        <p:spPr>
          <a:xfrm>
            <a:off x="457200" y="295351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1" name="Repère 3"/>
          <p:cNvSpPr/>
          <p:nvPr/>
        </p:nvSpPr>
        <p:spPr>
          <a:xfrm>
            <a:off x="621792" y="3108960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2278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CHERCHE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474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fiche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785616"/>
            <a:ext cx="23225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fiches de connaissances de Bordeaux et celles de Toulouse.</a:t>
            </a:r>
            <a:endParaRPr lang="en-US" sz="1150" dirty="0"/>
          </a:p>
        </p:txBody>
      </p:sp>
      <p:sp>
        <p:nvSpPr>
          <p:cNvPr id="25" name="Carte Une évaluation"/>
          <p:cNvSpPr/>
          <p:nvPr/>
        </p:nvSpPr>
        <p:spPr>
          <a:xfrm>
            <a:off x="3246120" y="295351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6" name="Repère 4"/>
          <p:cNvSpPr/>
          <p:nvPr/>
        </p:nvSpPr>
        <p:spPr>
          <a:xfrm>
            <a:off x="3410712" y="3108960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10712" y="32278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PRÉPARE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410712" y="3474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évaluation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10712" y="3785616"/>
            <a:ext cx="23225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Trames et exemples par compétences, pour les trois niveaux.</a:t>
            </a:r>
            <a:endParaRPr lang="en-US" sz="1150" dirty="0"/>
          </a:p>
        </p:txBody>
      </p:sp>
      <p:sp>
        <p:nvSpPr>
          <p:cNvPr id="30" name="Carte Une thématique"/>
          <p:cNvSpPr/>
          <p:nvPr/>
        </p:nvSpPr>
        <p:spPr>
          <a:xfrm>
            <a:off x="6035040" y="295351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31" name="Repère 5"/>
          <p:cNvSpPr/>
          <p:nvPr/>
        </p:nvSpPr>
        <p:spPr>
          <a:xfrm>
            <a:off x="6199632" y="3108960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99632" y="32278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TRAVAILLE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3474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thématique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3785616"/>
            <a:ext cx="23225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cybersécurité, réseaux, réparabilité, données, énergie, fabrication…</a:t>
            </a:r>
            <a:endParaRPr lang="en-US" sz="1150" dirty="0"/>
          </a:p>
        </p:txBody>
      </p:sp>
      <p:sp>
        <p:nvSpPr>
          <p:cNvPr id="35" name="Bandeau portail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26667"/>
            </a:avLst>
          </a:prstGeom>
          <a:solidFill>
            <a:srgbClr val="E2EFEE"/>
          </a:solidFill>
          <a:ln w="12700">
            <a:solidFill>
              <a:srgbClr val="E2EF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portail : </a:t>
            </a:r>
            <a:pPr indent="0" marL="0">
              <a:buNone/>
            </a:pPr>
            <a:r>
              <a:rPr lang="en-US" sz="1250" b="1" u="sng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uvrir programme.teckno.f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programme.teckno.fr</a:t>
            </a:r>
            <a:pPr indent="0" marL="0">
              <a:buNone/>
            </a:pPr>
            <a:r>
              <a:rPr lang="en-US" sz="1250" dirty="0">
                <a:solidFill>
                  <a:srgbClr val="0A5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9 compétences cliquables, didactique, sources officielles</a:t>
            </a:r>
            <a:endParaRPr lang="en-US" sz="1250" dirty="0"/>
          </a:p>
        </p:txBody>
      </p:sp>
      <p:sp>
        <p:nvSpPr>
          <p:cNvPr id="37" name="Lien programme.teckno.fr"/>
          <p:cNvSpPr/>
          <p:nvPr/>
        </p:nvSpPr>
        <p:spPr>
          <a:xfrm>
            <a:off x="6446520" y="237744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2377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Ouvrir programme.teckno.f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programme.teckno.fr ↗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6B"/>
                </a:solidFill>
              </a:rPr>
              <a:t>LE CŒUR DU PORTAIL · LE MOTEUR DE RECHERCHE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de 260 ressources, filtrables</a:t>
            </a:r>
            <a:endParaRPr lang="en-US" sz="2800" dirty="0"/>
          </a:p>
        </p:txBody>
      </p:sp>
      <p:sp>
        <p:nvSpPr>
          <p:cNvPr id="4" name="Lien Ouvrir le moteur"/>
          <p:cNvSpPr/>
          <p:nvPr/>
        </p:nvSpPr>
        <p:spPr>
          <a:xfrm>
            <a:off x="6446520" y="237744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46520" y="2377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uvrir Ouvrir le moteu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le moteur ↗</a:t>
            </a:r>
            <a:endParaRPr lang="en-US" sz="1200" dirty="0"/>
          </a:p>
        </p:txBody>
      </p:sp>
      <p:sp>
        <p:nvSpPr>
          <p:cNvPr id="6" name="Stat 0"/>
          <p:cNvSpPr/>
          <p:nvPr/>
        </p:nvSpPr>
        <p:spPr>
          <a:xfrm>
            <a:off x="457200" y="1261872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indexées</a:t>
            </a:r>
            <a:endParaRPr lang="en-US" sz="1250" dirty="0"/>
          </a:p>
        </p:txBody>
      </p:sp>
      <p:sp>
        <p:nvSpPr>
          <p:cNvPr id="9" name="Stat 1"/>
          <p:cNvSpPr/>
          <p:nvPr/>
        </p:nvSpPr>
        <p:spPr>
          <a:xfrm>
            <a:off x="2551176" y="1261872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88336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688336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séquences</a:t>
            </a:r>
            <a:endParaRPr lang="en-US" sz="1250" dirty="0"/>
          </a:p>
        </p:txBody>
      </p:sp>
      <p:sp>
        <p:nvSpPr>
          <p:cNvPr id="12" name="Stat 2"/>
          <p:cNvSpPr/>
          <p:nvPr/>
        </p:nvSpPr>
        <p:spPr>
          <a:xfrm>
            <a:off x="4645152" y="1261872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82312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A6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782312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connaissances</a:t>
            </a:r>
            <a:endParaRPr lang="en-US" sz="1250" dirty="0"/>
          </a:p>
        </p:txBody>
      </p:sp>
      <p:sp>
        <p:nvSpPr>
          <p:cNvPr id="15" name="Stat 3"/>
          <p:cNvSpPr/>
          <p:nvPr/>
        </p:nvSpPr>
        <p:spPr>
          <a:xfrm>
            <a:off x="6739128" y="1261872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76288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académies et sources nationales</a:t>
            </a:r>
            <a:endParaRPr lang="en-US" sz="1250" dirty="0"/>
          </a:p>
        </p:txBody>
      </p:sp>
      <p:sp>
        <p:nvSpPr>
          <p:cNvPr id="18" name="Carte Chercher par notion"/>
          <p:cNvSpPr/>
          <p:nvPr/>
        </p:nvSpPr>
        <p:spPr>
          <a:xfrm>
            <a:off x="457200" y="2514600"/>
            <a:ext cx="262128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19" name="Repère 0"/>
          <p:cNvSpPr/>
          <p:nvPr/>
        </p:nvSpPr>
        <p:spPr>
          <a:xfrm>
            <a:off x="621792" y="2670048"/>
            <a:ext cx="329184" cy="54864"/>
          </a:xfrm>
          <a:prstGeom prst="rect">
            <a:avLst/>
          </a:prstGeom>
          <a:solidFill>
            <a:srgbClr val="0E6E6B"/>
          </a:solidFill>
          <a:ln w="12700">
            <a:solidFill>
              <a:srgbClr val="0E6E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788920"/>
            <a:ext cx="229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Chercher par notion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099816"/>
            <a:ext cx="2292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IP, réparabilité, IA, micro:bit, SFC1, DNB 2027…</a:t>
            </a:r>
            <a:endParaRPr lang="en-US" sz="1200" dirty="0"/>
          </a:p>
        </p:txBody>
      </p:sp>
      <p:sp>
        <p:nvSpPr>
          <p:cNvPr id="22" name="Carte Filtrer"/>
          <p:cNvSpPr/>
          <p:nvPr/>
        </p:nvSpPr>
        <p:spPr>
          <a:xfrm>
            <a:off x="3261360" y="2514600"/>
            <a:ext cx="262128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3" name="Repère 1"/>
          <p:cNvSpPr/>
          <p:nvPr/>
        </p:nvSpPr>
        <p:spPr>
          <a:xfrm>
            <a:off x="3425952" y="2670048"/>
            <a:ext cx="329184" cy="54864"/>
          </a:xfrm>
          <a:prstGeom prst="rect">
            <a:avLst/>
          </a:prstGeom>
          <a:solidFill>
            <a:srgbClr val="245D8A"/>
          </a:solidFill>
          <a:ln w="12700">
            <a:solidFill>
              <a:srgbClr val="245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5952" y="2788920"/>
            <a:ext cx="229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25952" y="3099816"/>
            <a:ext cx="2292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niveau (5e, 4e, 3e, cycle), par type de document, par source.</a:t>
            </a:r>
            <a:endParaRPr lang="en-US" sz="1200" dirty="0"/>
          </a:p>
        </p:txBody>
      </p:sp>
      <p:sp>
        <p:nvSpPr>
          <p:cNvPr id="26" name="Carte Remonter à la source"/>
          <p:cNvSpPr/>
          <p:nvPr/>
        </p:nvSpPr>
        <p:spPr>
          <a:xfrm>
            <a:off x="6065520" y="2514600"/>
            <a:ext cx="2621280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12700">
            <a:solidFill>
              <a:srgbClr val="D2DEDE"/>
            </a:solidFill>
            <a:prstDash val="solid"/>
          </a:ln>
        </p:spPr>
      </p:sp>
      <p:sp>
        <p:nvSpPr>
          <p:cNvPr id="27" name="Repère 2"/>
          <p:cNvSpPr/>
          <p:nvPr/>
        </p:nvSpPr>
        <p:spPr>
          <a:xfrm>
            <a:off x="6230112" y="2670048"/>
            <a:ext cx="329184" cy="54864"/>
          </a:xfrm>
          <a:prstGeom prst="rect">
            <a:avLst/>
          </a:prstGeom>
          <a:solidFill>
            <a:srgbClr val="9A6900"/>
          </a:solidFill>
          <a:ln w="12700">
            <a:solidFill>
              <a:srgbClr val="9A6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30112" y="2788920"/>
            <a:ext cx="2292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Remonter à la source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30112" y="3099816"/>
            <a:ext cx="2292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résultat renvoie au document d’origine, pour vérifier et télécharger.</a:t>
            </a:r>
            <a:endParaRPr lang="en-US" sz="1200" dirty="0"/>
          </a:p>
        </p:txBody>
      </p:sp>
      <p:sp>
        <p:nvSpPr>
          <p:cNvPr id="30" name="Veille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BE8F0"/>
          </a:solidFill>
          <a:ln w="12700">
            <a:solidFill>
              <a:srgbClr val="FB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3840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récente : </a:t>
            </a:r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EDUVOX, deux séquences RNR de 3e où l’IA aide la démarche de projet (septembre 2026) ; le Challenge inter-collèges WorldSkills ; le sujet de référence du DNB 2027.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C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E3E0"/>
                </a:solidFill>
              </a:rPr>
              <a:t>À EMPORTER · AVANT CHAQUE SÉQUENCE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questions à se poser</a:t>
            </a:r>
            <a:endParaRPr lang="en-US" sz="4400" dirty="0"/>
          </a:p>
        </p:txBody>
      </p:sp>
      <p:sp>
        <p:nvSpPr>
          <p:cNvPr id="4" name="Question finale 1"/>
          <p:cNvSpPr/>
          <p:nvPr/>
        </p:nvSpPr>
        <p:spPr>
          <a:xfrm>
            <a:off x="54864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QF1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savoir précis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07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visé, et quelle idée fausse l’activité va-t-elle obliger à dépasser ?</a:t>
            </a:r>
            <a:endParaRPr lang="en-US" sz="1300" dirty="0"/>
          </a:p>
        </p:txBody>
      </p:sp>
      <p:sp>
        <p:nvSpPr>
          <p:cNvPr id="9" name="Question finale 2"/>
          <p:cNvSpPr/>
          <p:nvPr/>
        </p:nvSpPr>
        <p:spPr>
          <a:xfrm>
            <a:off x="3264408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QF2"/>
          <p:cNvSpPr/>
          <p:nvPr/>
        </p:nvSpPr>
        <p:spPr>
          <a:xfrm>
            <a:off x="3447288" y="1993392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aide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907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prépare, sans faire à la place de l’élève ?</a:t>
            </a:r>
            <a:endParaRPr lang="en-US" sz="1300" dirty="0"/>
          </a:p>
        </p:txBody>
      </p:sp>
      <p:sp>
        <p:nvSpPr>
          <p:cNvPr id="14" name="Question finale 3"/>
          <p:cNvSpPr/>
          <p:nvPr/>
        </p:nvSpPr>
        <p:spPr>
          <a:xfrm>
            <a:off x="5980176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QF3"/>
          <p:cNvSpPr/>
          <p:nvPr/>
        </p:nvSpPr>
        <p:spPr>
          <a:xfrm>
            <a:off x="6163056" y="1993392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6305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5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trace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907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prouvera, quinze jours plus tard, qu’il a compris et pas seulement réussi 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Et, pour le DNB : faire écrire, justifier et nommer juste, dès la 5e.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tion techno">
  <a:themeElements>
    <a:clrScheme name="Formation techno">
      <a:dk1>
        <a:srgbClr val="14262B"/>
      </a:dk1>
      <a:lt1>
        <a:srgbClr val="FFFFFF"/>
      </a:lt1>
      <a:dk2>
        <a:srgbClr val="0A5A58"/>
      </a:dk2>
      <a:lt2>
        <a:srgbClr val="F4F7F7"/>
      </a:lt2>
      <a:accent1>
        <a:srgbClr val="0E6E6B"/>
      </a:accent1>
      <a:accent2>
        <a:srgbClr val="C2185B"/>
      </a:accent2>
      <a:accent3>
        <a:srgbClr val="245D8A"/>
      </a:accent3>
      <a:accent4>
        <a:srgbClr val="9A6900"/>
      </a:accent4>
      <a:accent5>
        <a:srgbClr val="E2EFEE"/>
      </a:accent5>
      <a:accent6>
        <a:srgbClr val="5A6C71"/>
      </a:accent6>
      <a:hlink>
        <a:srgbClr val="0E6E6B"/>
      </a:hlink>
      <a:folHlink>
        <a:srgbClr val="0A5A58"/>
      </a:folHlink>
    </a:clrScheme>
    <a:fontScheme name="Formation tech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nouveau programme de technologie au cycle 4</dc:title>
  <dc:subject>PptxGenJS Presentation</dc:subject>
  <dc:creator>Fehmi KLABI</dc:creator>
  <cp:lastModifiedBy>Fehmi KLABI</cp:lastModifiedBy>
  <cp:revision>1</cp:revision>
  <dcterms:created xsi:type="dcterms:W3CDTF">2026-10-11T16:54:20Z</dcterms:created>
  <dcterms:modified xsi:type="dcterms:W3CDTF">2026-10-11T16:54:20Z</dcterms:modified>
</cp:coreProperties>
</file>